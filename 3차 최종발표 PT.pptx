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8288000" cy="10287000"/>
  <p:notesSz cx="6858000" cy="9144000"/>
  <p:embeddedFontLst>
    <p:embeddedFont>
      <p:font typeface="SF_HailSnow" panose="02000503000000000000" charset="-127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4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6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7.png"/><Relationship Id="rId1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5.png"/><Relationship Id="rId3" Type="http://schemas.openxmlformats.org/officeDocument/2006/relationships/image" Target="../media/image12.png"/><Relationship Id="rId7" Type="http://schemas.openxmlformats.org/officeDocument/2006/relationships/image" Target="../media/image22.png"/><Relationship Id="rId12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3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24.png"/><Relationship Id="rId1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7.png"/><Relationship Id="rId5" Type="http://schemas.openxmlformats.org/officeDocument/2006/relationships/image" Target="../media/image4.png"/><Relationship Id="rId10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28.png"/><Relationship Id="rId4" Type="http://schemas.openxmlformats.org/officeDocument/2006/relationships/image" Target="../media/image3.png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29.png"/><Relationship Id="rId4" Type="http://schemas.openxmlformats.org/officeDocument/2006/relationships/image" Target="../media/image3.png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33.png"/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12" Type="http://schemas.openxmlformats.org/officeDocument/2006/relationships/image" Target="../media/image3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2.png"/><Relationship Id="rId1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image" Target="../media/image11.pn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37.png"/><Relationship Id="rId5" Type="http://schemas.openxmlformats.org/officeDocument/2006/relationships/image" Target="../media/image4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.png"/><Relationship Id="rId9" Type="http://schemas.openxmlformats.org/officeDocument/2006/relationships/image" Target="../media/image2.png"/><Relationship Id="rId1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46.png"/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12" Type="http://schemas.openxmlformats.org/officeDocument/2006/relationships/image" Target="../media/image45.png"/><Relationship Id="rId2" Type="http://schemas.openxmlformats.org/officeDocument/2006/relationships/image" Target="../media/image11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37.png"/><Relationship Id="rId5" Type="http://schemas.openxmlformats.org/officeDocument/2006/relationships/image" Target="../media/image4.png"/><Relationship Id="rId15" Type="http://schemas.openxmlformats.org/officeDocument/2006/relationships/image" Target="../media/image47.png"/><Relationship Id="rId10" Type="http://schemas.openxmlformats.org/officeDocument/2006/relationships/image" Target="../media/image36.png"/><Relationship Id="rId4" Type="http://schemas.openxmlformats.org/officeDocument/2006/relationships/image" Target="../media/image3.png"/><Relationship Id="rId9" Type="http://schemas.openxmlformats.org/officeDocument/2006/relationships/image" Target="../media/image2.png"/><Relationship Id="rId1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12" Type="http://schemas.openxmlformats.org/officeDocument/2006/relationships/image" Target="../media/image5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0.png"/><Relationship Id="rId5" Type="http://schemas.openxmlformats.org/officeDocument/2006/relationships/image" Target="../media/image4.png"/><Relationship Id="rId10" Type="http://schemas.openxmlformats.org/officeDocument/2006/relationships/image" Target="../media/image50.png"/><Relationship Id="rId4" Type="http://schemas.openxmlformats.org/officeDocument/2006/relationships/image" Target="../media/image3.png"/><Relationship Id="rId9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54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12" Type="http://schemas.openxmlformats.org/officeDocument/2006/relationships/image" Target="../media/image5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52.png"/><Relationship Id="rId5" Type="http://schemas.openxmlformats.org/officeDocument/2006/relationships/image" Target="../media/image3.png"/><Relationship Id="rId10" Type="http://schemas.openxmlformats.org/officeDocument/2006/relationships/image" Target="../media/image44.png"/><Relationship Id="rId4" Type="http://schemas.openxmlformats.org/officeDocument/2006/relationships/image" Target="../media/image12.png"/><Relationship Id="rId9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56.png"/><Relationship Id="rId5" Type="http://schemas.openxmlformats.org/officeDocument/2006/relationships/image" Target="../media/image3.png"/><Relationship Id="rId10" Type="http://schemas.openxmlformats.org/officeDocument/2006/relationships/image" Target="../media/image55.png"/><Relationship Id="rId4" Type="http://schemas.openxmlformats.org/officeDocument/2006/relationships/image" Target="../media/image12.png"/><Relationship Id="rId9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58.png"/><Relationship Id="rId5" Type="http://schemas.openxmlformats.org/officeDocument/2006/relationships/image" Target="../media/image3.png"/><Relationship Id="rId10" Type="http://schemas.openxmlformats.org/officeDocument/2006/relationships/image" Target="../media/image57.png"/><Relationship Id="rId4" Type="http://schemas.openxmlformats.org/officeDocument/2006/relationships/image" Target="../media/image12.png"/><Relationship Id="rId9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59.png"/><Relationship Id="rId4" Type="http://schemas.openxmlformats.org/officeDocument/2006/relationships/image" Target="../media/image12.png"/><Relationship Id="rId9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60.png"/><Relationship Id="rId4" Type="http://schemas.openxmlformats.org/officeDocument/2006/relationships/image" Target="../media/image12.png"/><Relationship Id="rId9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61.png"/><Relationship Id="rId4" Type="http://schemas.openxmlformats.org/officeDocument/2006/relationships/image" Target="../media/image12.png"/><Relationship Id="rId9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62.png"/><Relationship Id="rId4" Type="http://schemas.openxmlformats.org/officeDocument/2006/relationships/image" Target="../media/image12.png"/><Relationship Id="rId9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63.png"/><Relationship Id="rId4" Type="http://schemas.openxmlformats.org/officeDocument/2006/relationships/image" Target="../media/image12.png"/><Relationship Id="rId9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65.png"/><Relationship Id="rId5" Type="http://schemas.openxmlformats.org/officeDocument/2006/relationships/image" Target="../media/image3.png"/><Relationship Id="rId10" Type="http://schemas.openxmlformats.org/officeDocument/2006/relationships/image" Target="../media/image64.png"/><Relationship Id="rId4" Type="http://schemas.openxmlformats.org/officeDocument/2006/relationships/image" Target="../media/image12.png"/><Relationship Id="rId9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67.png"/><Relationship Id="rId5" Type="http://schemas.openxmlformats.org/officeDocument/2006/relationships/image" Target="../media/image3.png"/><Relationship Id="rId10" Type="http://schemas.openxmlformats.org/officeDocument/2006/relationships/image" Target="../media/image66.png"/><Relationship Id="rId4" Type="http://schemas.openxmlformats.org/officeDocument/2006/relationships/image" Target="../media/image12.png"/><Relationship Id="rId9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69.png"/><Relationship Id="rId5" Type="http://schemas.openxmlformats.org/officeDocument/2006/relationships/image" Target="../media/image3.png"/><Relationship Id="rId10" Type="http://schemas.openxmlformats.org/officeDocument/2006/relationships/image" Target="../media/image68.png"/><Relationship Id="rId4" Type="http://schemas.openxmlformats.org/officeDocument/2006/relationships/image" Target="../media/image12.png"/><Relationship Id="rId9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71.png"/><Relationship Id="rId5" Type="http://schemas.openxmlformats.org/officeDocument/2006/relationships/image" Target="../media/image3.png"/><Relationship Id="rId10" Type="http://schemas.openxmlformats.org/officeDocument/2006/relationships/image" Target="../media/image70.png"/><Relationship Id="rId4" Type="http://schemas.openxmlformats.org/officeDocument/2006/relationships/image" Target="../media/image12.png"/><Relationship Id="rId9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2.png"/><Relationship Id="rId4" Type="http://schemas.openxmlformats.org/officeDocument/2006/relationships/image" Target="../media/image12.png"/><Relationship Id="rId9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3.png"/><Relationship Id="rId4" Type="http://schemas.openxmlformats.org/officeDocument/2006/relationships/image" Target="../media/image12.png"/><Relationship Id="rId9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4.png"/><Relationship Id="rId4" Type="http://schemas.openxmlformats.org/officeDocument/2006/relationships/image" Target="../media/image12.png"/><Relationship Id="rId9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5.png"/><Relationship Id="rId4" Type="http://schemas.openxmlformats.org/officeDocument/2006/relationships/image" Target="../media/image12.png"/><Relationship Id="rId9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6.png"/><Relationship Id="rId4" Type="http://schemas.openxmlformats.org/officeDocument/2006/relationships/image" Target="../media/image12.png"/><Relationship Id="rId9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7.png"/><Relationship Id="rId4" Type="http://schemas.openxmlformats.org/officeDocument/2006/relationships/image" Target="../media/image12.png"/><Relationship Id="rId9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8.png"/><Relationship Id="rId4" Type="http://schemas.openxmlformats.org/officeDocument/2006/relationships/image" Target="../media/image12.png"/><Relationship Id="rId9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80.png"/><Relationship Id="rId5" Type="http://schemas.openxmlformats.org/officeDocument/2006/relationships/image" Target="../media/image3.png"/><Relationship Id="rId10" Type="http://schemas.openxmlformats.org/officeDocument/2006/relationships/image" Target="../media/image79.png"/><Relationship Id="rId4" Type="http://schemas.openxmlformats.org/officeDocument/2006/relationships/image" Target="../media/image12.png"/><Relationship Id="rId9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1.png"/><Relationship Id="rId4" Type="http://schemas.openxmlformats.org/officeDocument/2006/relationships/image" Target="../media/image12.png"/><Relationship Id="rId9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82.png"/><Relationship Id="rId5" Type="http://schemas.openxmlformats.org/officeDocument/2006/relationships/image" Target="../media/image11.png"/><Relationship Id="rId10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3.pn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12.png"/><Relationship Id="rId10" Type="http://schemas.openxmlformats.org/officeDocument/2006/relationships/image" Target="../media/image2.png"/><Relationship Id="rId4" Type="http://schemas.openxmlformats.org/officeDocument/2006/relationships/image" Target="../media/image11.png"/><Relationship Id="rId9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9.pn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12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3.png"/><Relationship Id="rId5" Type="http://schemas.openxmlformats.org/officeDocument/2006/relationships/image" Target="../media/image12.png"/><Relationship Id="rId10" Type="http://schemas.openxmlformats.org/officeDocument/2006/relationships/image" Target="../media/image2.png"/><Relationship Id="rId4" Type="http://schemas.openxmlformats.org/officeDocument/2006/relationships/image" Target="../media/image11.png"/><Relationship Id="rId9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3.pn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12.png"/><Relationship Id="rId10" Type="http://schemas.openxmlformats.org/officeDocument/2006/relationships/image" Target="../media/image2.png"/><Relationship Id="rId4" Type="http://schemas.openxmlformats.org/officeDocument/2006/relationships/image" Target="../media/image11.png"/><Relationship Id="rId9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3.pn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12.png"/><Relationship Id="rId10" Type="http://schemas.openxmlformats.org/officeDocument/2006/relationships/image" Target="../media/image2.png"/><Relationship Id="rId4" Type="http://schemas.openxmlformats.org/officeDocument/2006/relationships/image" Target="../media/image11.png"/><Relationship Id="rId9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889000"/>
            <a:ext cx="16497300" cy="952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1231900"/>
            <a:ext cx="254000" cy="254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9000" y="1231900"/>
            <a:ext cx="254000" cy="254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6200" y="12319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3400" y="12319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4100" y="4394200"/>
            <a:ext cx="1193800" cy="9906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7500" y="4737100"/>
            <a:ext cx="254000" cy="254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0100" y="4737100"/>
            <a:ext cx="254000" cy="2540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>
            <a:off x="12560300" y="5791200"/>
            <a:ext cx="5130800" cy="190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>
            <a:off x="12560300" y="6527800"/>
            <a:ext cx="5130800" cy="19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>
            <a:off x="12560300" y="7264400"/>
            <a:ext cx="5130800" cy="190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alphaModFix amt="15000"/>
          </a:blip>
          <a:stretch>
            <a:fillRect/>
          </a:stretch>
        </p:blipFill>
        <p:spPr>
          <a:xfrm rot="-3180000">
            <a:off x="13017500" y="8432800"/>
            <a:ext cx="2476500" cy="2070100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08900" y="2895600"/>
            <a:ext cx="2971800" cy="1016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08900" y="3479800"/>
            <a:ext cx="2971800" cy="1016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2235200" y="2692400"/>
            <a:ext cx="49276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7000" b="0" i="0" u="none" strike="noStrike" spc="-100">
                <a:solidFill>
                  <a:srgbClr val="FFFFFF"/>
                </a:solidFill>
                <a:ea typeface="SF_HailSnow"/>
              </a:rPr>
              <a:t>제품추적관리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473700" y="4216400"/>
            <a:ext cx="6464300" cy="128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7200" b="0" i="0" u="none" strike="noStrike" spc="-800">
                <a:solidFill>
                  <a:srgbClr val="FFFFFF"/>
                </a:solidFill>
                <a:ea typeface="SF_HailSnow"/>
              </a:rPr>
              <a:t>모니터링</a:t>
            </a:r>
            <a:r>
              <a:rPr lang="en-US" sz="7200" b="0" i="0" u="none" strike="noStrike" spc="-8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7200" b="0" i="0" u="none" strike="noStrike" spc="-800">
                <a:solidFill>
                  <a:srgbClr val="FFFFFF"/>
                </a:solidFill>
                <a:ea typeface="SF_HailSnow"/>
              </a:rPr>
              <a:t>웹</a:t>
            </a:r>
            <a:r>
              <a:rPr lang="en-US" sz="7200" b="0" i="0" u="none" strike="noStrike" spc="-8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7200" b="0" i="0" u="none" strike="noStrike" spc="-800">
                <a:solidFill>
                  <a:srgbClr val="FFFFFF"/>
                </a:solidFill>
                <a:ea typeface="SF_HailSnow"/>
              </a:rPr>
              <a:t>솔루션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97500" y="5753100"/>
            <a:ext cx="4826000" cy="1384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800" b="0" i="0" u="none" strike="noStrike" spc="-200">
                <a:solidFill>
                  <a:srgbClr val="FFFFFF"/>
                </a:solidFill>
                <a:latin typeface="SF_HailSnow"/>
              </a:rPr>
              <a:t>MES-WEB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391900" y="2311400"/>
            <a:ext cx="622300" cy="1968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1000" b="0" i="0" u="none" strike="noStrike" spc="-300">
                <a:solidFill>
                  <a:srgbClr val="DC56A9"/>
                </a:solidFill>
                <a:latin typeface="SF_HailSnow"/>
              </a:rPr>
              <a:t>{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960100" y="5473700"/>
            <a:ext cx="1308100" cy="280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700" b="0" i="0" u="none" strike="noStrike" spc="-400">
                <a:solidFill>
                  <a:srgbClr val="FF630E"/>
                </a:solidFill>
                <a:latin typeface="SF_HailSnow"/>
              </a:rPr>
              <a:t>*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35200" y="5626100"/>
            <a:ext cx="1993900" cy="153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600" b="0" i="0" u="none" strike="noStrike" spc="-200">
                <a:solidFill>
                  <a:srgbClr val="41C5FF"/>
                </a:solidFill>
                <a:latin typeface="SF_HailSnow"/>
              </a:rPr>
              <a:t>[     ]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683000" y="1181100"/>
            <a:ext cx="23749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100" b="0" i="0" u="none" strike="noStrike">
                <a:solidFill>
                  <a:srgbClr val="FFFFFF"/>
                </a:solidFill>
                <a:ea typeface="SF_HailSnow"/>
              </a:rPr>
              <a:t>휴먼교육센터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465300" y="1206500"/>
            <a:ext cx="237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865100" y="8763000"/>
            <a:ext cx="4978400" cy="952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24499"/>
              </a:lnSpc>
            </a:pPr>
            <a:r>
              <a:rPr lang="en-US" sz="2600" b="0" i="0" u="none" strike="noStrike">
                <a:solidFill>
                  <a:srgbClr val="FFFFFF"/>
                </a:solidFill>
                <a:latin typeface="SF_HailSnow"/>
              </a:rPr>
              <a:t># human </a:t>
            </a:r>
            <a:r>
              <a:rPr lang="en-US" sz="2600" b="0" i="0" u="none" strike="noStrike">
                <a:solidFill>
                  <a:srgbClr val="FF630E"/>
                </a:solidFill>
                <a:latin typeface="SF_HailSnow"/>
              </a:rPr>
              <a:t>Little ones</a:t>
            </a:r>
            <a:r>
              <a:rPr lang="en-US" sz="2600" b="0" i="0" u="none" strike="noStrike">
                <a:solidFill>
                  <a:srgbClr val="FFFFFF"/>
                </a:solidFill>
                <a:latin typeface="SF_HailSnow"/>
              </a:rPr>
              <a:t> ( )    {</a:t>
            </a:r>
          </a:p>
          <a:p>
            <a:pPr lvl="0" algn="r">
              <a:lnSpc>
                <a:spcPct val="124499"/>
              </a:lnSpc>
            </a:pPr>
            <a:r>
              <a:rPr lang="en-US" sz="2600" b="0" i="0" u="none" strike="noStrike">
                <a:solidFill>
                  <a:srgbClr val="FFFFFF"/>
                </a:solidFill>
                <a:latin typeface="SF_HailSnow"/>
              </a:rPr>
              <a:t>presenter :  = </a:t>
            </a:r>
            <a:r>
              <a:rPr lang="ko-KR" sz="2600" b="0" i="0" u="none" strike="noStrike">
                <a:solidFill>
                  <a:srgbClr val="41C5FF"/>
                </a:solidFill>
                <a:ea typeface="SF_HailSnow"/>
              </a:rPr>
              <a:t>박경민</a:t>
            </a:r>
            <a:r>
              <a:rPr lang="en-US" sz="2600" b="0" i="0" u="none" strike="noStrike">
                <a:solidFill>
                  <a:srgbClr val="FFFFFF"/>
                </a:solidFill>
                <a:latin typeface="SF_HailSnow"/>
              </a:rPr>
              <a:t> ; / Little ones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159000" y="9029700"/>
            <a:ext cx="50546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400" b="0" i="0" u="none" strike="noStrike">
                <a:solidFill>
                  <a:srgbClr val="FFFFFF">
                    <a:alpha val="65098"/>
                  </a:srgbClr>
                </a:solidFill>
                <a:ea typeface="SF_HailSnow"/>
              </a:rPr>
              <a:t>스마트팩토리</a:t>
            </a:r>
            <a:r>
              <a:rPr lang="en-US" sz="2400" b="0" i="0" u="none" strike="noStrike">
                <a:solidFill>
                  <a:srgbClr val="FFFFFF">
                    <a:alpha val="65098"/>
                  </a:srgbClr>
                </a:solidFill>
                <a:latin typeface="SF_HailSnow"/>
              </a:rPr>
              <a:t> MES </a:t>
            </a:r>
            <a:r>
              <a:rPr lang="ko-KR" sz="2400" b="0" i="0" u="none" strike="noStrike">
                <a:solidFill>
                  <a:srgbClr val="FFFFFF">
                    <a:alpha val="65098"/>
                  </a:srgbClr>
                </a:solidFill>
                <a:ea typeface="SF_HailSnow"/>
              </a:rPr>
              <a:t>웹</a:t>
            </a:r>
            <a:r>
              <a:rPr lang="en-US" sz="2400" b="0" i="0" u="none" strike="noStrike">
                <a:solidFill>
                  <a:srgbClr val="FFFFFF">
                    <a:alpha val="65098"/>
                  </a:srgbClr>
                </a:solidFill>
                <a:latin typeface="SF_HailSnow"/>
              </a:rPr>
              <a:t> </a:t>
            </a:r>
            <a:r>
              <a:rPr lang="ko-KR" sz="2400" b="0" i="0" u="none" strike="noStrike">
                <a:solidFill>
                  <a:srgbClr val="FFFFFF">
                    <a:alpha val="65098"/>
                  </a:srgbClr>
                </a:solidFill>
                <a:ea typeface="SF_HailSnow"/>
              </a:rPr>
              <a:t>솔루션</a:t>
            </a:r>
            <a:r>
              <a:rPr lang="en-US" sz="2400" b="0" i="0" u="none" strike="noStrike">
                <a:solidFill>
                  <a:srgbClr val="FFFFFF">
                    <a:alpha val="65098"/>
                  </a:srgbClr>
                </a:solidFill>
                <a:latin typeface="SF_HailSnow"/>
              </a:rPr>
              <a:t> </a:t>
            </a:r>
            <a:r>
              <a:rPr lang="ko-KR" sz="2400" b="0" i="0" u="none" strike="noStrike">
                <a:solidFill>
                  <a:srgbClr val="FFFFFF">
                    <a:alpha val="65098"/>
                  </a:srgbClr>
                </a:solidFill>
                <a:ea typeface="SF_HailSnow"/>
              </a:rPr>
              <a:t>프로젝트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992600" y="-1054100"/>
            <a:ext cx="1511300" cy="478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6900" b="0" i="0" u="none" strike="noStrike" spc="-700">
                <a:solidFill>
                  <a:srgbClr val="DC56A9">
                    <a:alpha val="20000"/>
                  </a:srgbClr>
                </a:solidFill>
                <a:latin typeface="SF_HailSnow"/>
              </a:rPr>
              <a:t>{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757400" y="2324100"/>
            <a:ext cx="2489200" cy="534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900" b="0" i="0" u="none" strike="noStrike" spc="-800">
                <a:solidFill>
                  <a:srgbClr val="FF630E">
                    <a:alpha val="20000"/>
                  </a:srgbClr>
                </a:solidFill>
                <a:latin typeface="SF_HailSnow"/>
              </a:rPr>
              <a:t>*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7602200" y="-38100"/>
            <a:ext cx="698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47800" y="1079500"/>
            <a:ext cx="35433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CONTENTS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0700" y="2603500"/>
            <a:ext cx="6108700" cy="1879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0" y="2603500"/>
            <a:ext cx="8534400" cy="1879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0" y="7531100"/>
            <a:ext cx="8534400" cy="1879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0000" y="5067300"/>
            <a:ext cx="8534400" cy="1879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9400" y="3530600"/>
            <a:ext cx="1041400" cy="38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9400" y="5994400"/>
            <a:ext cx="1041400" cy="38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9400" y="8445500"/>
            <a:ext cx="1041400" cy="38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2971800" y="3530600"/>
            <a:ext cx="1346200" cy="381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975100" y="2844800"/>
            <a:ext cx="3467100" cy="1460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4000" b="0" i="0" u="none" strike="noStrike" spc="-100">
                <a:solidFill>
                  <a:srgbClr val="FFFFFF"/>
                </a:solidFill>
                <a:ea typeface="SF_HailSnow"/>
              </a:rPr>
              <a:t>① </a:t>
            </a:r>
            <a:r>
              <a:rPr lang="ko-KR" sz="4000" b="0" i="0" u="none" strike="noStrike" spc="-100">
                <a:solidFill>
                  <a:srgbClr val="FFFFFF"/>
                </a:solidFill>
                <a:ea typeface="SF_HailSnow"/>
              </a:rPr>
              <a:t>프로젝트</a:t>
            </a:r>
            <a:r>
              <a:rPr lang="en-US" sz="4000" b="0" i="0" u="none" strike="noStrike" spc="-1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000" b="0" i="0" u="none" strike="noStrike" spc="-100">
                <a:solidFill>
                  <a:srgbClr val="FFFFFF"/>
                </a:solidFill>
                <a:ea typeface="SF_HailSnow"/>
              </a:rPr>
              <a:t>개요</a:t>
            </a:r>
          </a:p>
          <a:p>
            <a:pPr lvl="0" algn="l">
              <a:lnSpc>
                <a:spcPct val="124499"/>
              </a:lnSpc>
            </a:pPr>
            <a:r>
              <a:rPr lang="en-US" sz="4000" b="0" i="0" u="none" strike="noStrike" spc="-100">
                <a:solidFill>
                  <a:srgbClr val="FFFFFF"/>
                </a:solidFill>
                <a:ea typeface="SF_HailSnow"/>
              </a:rPr>
              <a:t>② </a:t>
            </a:r>
            <a:r>
              <a:rPr lang="ko-KR" sz="4000" b="0" i="0" u="none" strike="noStrike" spc="-100">
                <a:solidFill>
                  <a:srgbClr val="FFFFFF"/>
                </a:solidFill>
                <a:ea typeface="SF_HailSnow"/>
              </a:rPr>
              <a:t>프로젝트</a:t>
            </a:r>
            <a:r>
              <a:rPr lang="en-US" sz="4000" b="0" i="0" u="none" strike="noStrike" spc="-1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000" b="0" i="0" u="none" strike="noStrike" spc="-100">
                <a:solidFill>
                  <a:srgbClr val="FFFFFF"/>
                </a:solidFill>
                <a:ea typeface="SF_HailSnow"/>
              </a:rPr>
              <a:t>기획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08200" y="2933700"/>
            <a:ext cx="1295400" cy="1308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000" b="0" i="0" u="none" strike="noStrike" spc="-100">
                <a:solidFill>
                  <a:srgbClr val="41C5FF"/>
                </a:solidFill>
                <a:latin typeface="SF_HailSnow"/>
              </a:rPr>
              <a:t>PART</a:t>
            </a:r>
          </a:p>
          <a:p>
            <a:pPr lvl="0" algn="l">
              <a:lnSpc>
                <a:spcPct val="99600"/>
              </a:lnSpc>
            </a:pPr>
            <a:r>
              <a:rPr lang="en-US" sz="4000" b="0" i="0" u="none" strike="noStrike" spc="-100">
                <a:solidFill>
                  <a:srgbClr val="41C5FF"/>
                </a:solidFill>
                <a:latin typeface="SF_HailSnow"/>
              </a:rPr>
              <a:t>01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90700" y="5067300"/>
            <a:ext cx="6108700" cy="1879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2971800" y="5994400"/>
            <a:ext cx="1346200" cy="38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3975100" y="5308600"/>
            <a:ext cx="3467100" cy="1460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4000" b="0" i="0" u="none" strike="noStrike" spc="-100">
                <a:solidFill>
                  <a:srgbClr val="FFFFFF"/>
                </a:solidFill>
                <a:ea typeface="SF_HailSnow"/>
              </a:rPr>
              <a:t>③ </a:t>
            </a:r>
            <a:r>
              <a:rPr lang="ko-KR" sz="4000" b="0" i="0" u="none" strike="noStrike" spc="-100">
                <a:solidFill>
                  <a:srgbClr val="FFFFFF"/>
                </a:solidFill>
                <a:ea typeface="SF_HailSnow"/>
              </a:rPr>
              <a:t>테스트</a:t>
            </a:r>
            <a:r>
              <a:rPr lang="en-US" sz="4000" b="0" i="0" u="none" strike="noStrike" spc="-1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000" b="0" i="0" u="none" strike="noStrike" spc="-100">
                <a:solidFill>
                  <a:srgbClr val="FFFFFF"/>
                </a:solidFill>
                <a:ea typeface="SF_HailSnow"/>
              </a:rPr>
              <a:t>케이스</a:t>
            </a:r>
          </a:p>
          <a:p>
            <a:pPr lvl="0" algn="l">
              <a:lnSpc>
                <a:spcPct val="124499"/>
              </a:lnSpc>
            </a:pPr>
            <a:r>
              <a:rPr lang="en-US" sz="4000" b="0" i="0" u="none" strike="noStrike" spc="-100">
                <a:solidFill>
                  <a:srgbClr val="FFFFFF"/>
                </a:solidFill>
                <a:ea typeface="SF_HailSnow"/>
              </a:rPr>
              <a:t>④ </a:t>
            </a:r>
            <a:r>
              <a:rPr lang="ko-KR" sz="4000" b="0" i="0" u="none" strike="noStrike" spc="-100">
                <a:solidFill>
                  <a:srgbClr val="FFFFFF"/>
                </a:solidFill>
                <a:ea typeface="SF_HailSnow"/>
              </a:rPr>
              <a:t>기술</a:t>
            </a:r>
            <a:r>
              <a:rPr lang="en-US" sz="4000" b="0" i="0" u="none" strike="noStrike" spc="-1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000" b="0" i="0" u="none" strike="noStrike" spc="-100">
                <a:solidFill>
                  <a:srgbClr val="FFFFFF"/>
                </a:solidFill>
                <a:ea typeface="SF_HailSnow"/>
              </a:rPr>
              <a:t>설명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08200" y="5397500"/>
            <a:ext cx="1295400" cy="1308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000" b="0" i="0" u="none" strike="noStrike" spc="-100">
                <a:solidFill>
                  <a:srgbClr val="FFFFFF"/>
                </a:solidFill>
                <a:latin typeface="SF_HailSnow"/>
              </a:rPr>
              <a:t>PART</a:t>
            </a:r>
          </a:p>
          <a:p>
            <a:pPr lvl="0" algn="l">
              <a:lnSpc>
                <a:spcPct val="99600"/>
              </a:lnSpc>
            </a:pPr>
            <a:r>
              <a:rPr lang="en-US" sz="4000" b="0" i="0" u="none" strike="noStrike" spc="-100">
                <a:solidFill>
                  <a:srgbClr val="FFFFFF"/>
                </a:solidFill>
                <a:latin typeface="SF_HailSnow"/>
              </a:rPr>
              <a:t>02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0700" y="7531100"/>
            <a:ext cx="6108700" cy="18796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2971800" y="8458200"/>
            <a:ext cx="1346200" cy="381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3975100" y="7759700"/>
            <a:ext cx="3467100" cy="1460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4000" b="0" i="0" u="none" strike="noStrike" spc="-100">
                <a:solidFill>
                  <a:srgbClr val="FFFFFF"/>
                </a:solidFill>
                <a:ea typeface="SF_HailSnow"/>
              </a:rPr>
              <a:t>⑤ </a:t>
            </a:r>
            <a:r>
              <a:rPr lang="ko-KR" sz="4000" b="0" i="0" u="none" strike="noStrike" spc="-100">
                <a:solidFill>
                  <a:srgbClr val="FFFFFF"/>
                </a:solidFill>
                <a:ea typeface="SF_HailSnow"/>
              </a:rPr>
              <a:t>시연</a:t>
            </a:r>
            <a:r>
              <a:rPr lang="en-US" sz="4000" b="0" i="0" u="none" strike="noStrike" spc="-1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000" b="0" i="0" u="none" strike="noStrike" spc="-100">
                <a:solidFill>
                  <a:srgbClr val="FFFFFF"/>
                </a:solidFill>
                <a:ea typeface="SF_HailSnow"/>
              </a:rPr>
              <a:t>및</a:t>
            </a:r>
            <a:r>
              <a:rPr lang="en-US" sz="4000" b="0" i="0" u="none" strike="noStrike" spc="-1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000" b="0" i="0" u="none" strike="noStrike" spc="-100">
                <a:solidFill>
                  <a:srgbClr val="FFFFFF"/>
                </a:solidFill>
                <a:ea typeface="SF_HailSnow"/>
              </a:rPr>
              <a:t>후기</a:t>
            </a:r>
          </a:p>
          <a:p>
            <a:pPr lvl="0" algn="l">
              <a:lnSpc>
                <a:spcPct val="124499"/>
              </a:lnSpc>
            </a:pPr>
            <a:r>
              <a:rPr lang="en-US" sz="4000" b="0" i="0" u="none" strike="noStrike" spc="-100">
                <a:solidFill>
                  <a:srgbClr val="FFFFFF"/>
                </a:solidFill>
                <a:ea typeface="SF_HailSnow"/>
              </a:rPr>
              <a:t>⑥ Q&amp;A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108200" y="7861300"/>
            <a:ext cx="1295400" cy="1308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000" b="0" i="0" u="none" strike="noStrike" spc="-100">
                <a:solidFill>
                  <a:srgbClr val="41C5FF"/>
                </a:solidFill>
                <a:latin typeface="SF_HailSnow"/>
              </a:rPr>
              <a:t>PART</a:t>
            </a:r>
          </a:p>
          <a:p>
            <a:pPr lvl="0" algn="l">
              <a:lnSpc>
                <a:spcPct val="99600"/>
              </a:lnSpc>
            </a:pPr>
            <a:r>
              <a:rPr lang="en-US" sz="4000" b="0" i="0" u="none" strike="noStrike" spc="-100">
                <a:solidFill>
                  <a:srgbClr val="41C5FF"/>
                </a:solidFill>
                <a:latin typeface="SF_HailSnow"/>
              </a:rPr>
              <a:t>03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98000" y="3035300"/>
            <a:ext cx="55245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2900" b="0" i="0" u="none" strike="noStrike">
                <a:solidFill>
                  <a:srgbClr val="FFFFFF"/>
                </a:solidFill>
                <a:ea typeface="SF_HailSnow"/>
              </a:rPr>
              <a:t>① MES </a:t>
            </a:r>
            <a:r>
              <a:rPr lang="ko-KR" sz="29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900" b="0" i="0" u="none" strike="noStrike">
                <a:solidFill>
                  <a:srgbClr val="FFFFFF"/>
                </a:solidFill>
                <a:ea typeface="SF_HailSnow"/>
              </a:rPr>
              <a:t>개요</a:t>
            </a: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900" b="0" i="0" u="none" strike="noStrike">
                <a:solidFill>
                  <a:srgbClr val="FFFFFF"/>
                </a:solidFill>
                <a:ea typeface="SF_HailSnow"/>
              </a:rPr>
              <a:t>설명</a:t>
            </a:r>
          </a:p>
          <a:p>
            <a:pPr lvl="0" algn="l">
              <a:lnSpc>
                <a:spcPct val="124499"/>
              </a:lnSpc>
            </a:pPr>
            <a:r>
              <a:rPr lang="en-US" sz="2900" b="0" i="0" u="none" strike="noStrike">
                <a:solidFill>
                  <a:srgbClr val="FFFFFF"/>
                </a:solidFill>
                <a:ea typeface="SF_HailSnow"/>
              </a:rPr>
              <a:t>② </a:t>
            </a:r>
            <a:r>
              <a:rPr lang="ko-KR" sz="2900" b="0" i="0" u="none" strike="noStrike">
                <a:solidFill>
                  <a:srgbClr val="FFFFFF"/>
                </a:solidFill>
                <a:ea typeface="SF_HailSnow"/>
              </a:rPr>
              <a:t>개발과정</a:t>
            </a: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, </a:t>
            </a:r>
            <a:r>
              <a:rPr lang="ko-KR" sz="2900" b="0" i="0" u="none" strike="noStrike">
                <a:solidFill>
                  <a:srgbClr val="FFFFFF"/>
                </a:solidFill>
                <a:ea typeface="SF_HailSnow"/>
              </a:rPr>
              <a:t>역할분담</a:t>
            </a: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900" b="0" i="0" u="none" strike="noStrike">
                <a:solidFill>
                  <a:srgbClr val="FFFFFF"/>
                </a:solidFill>
                <a:ea typeface="SF_HailSnow"/>
              </a:rPr>
              <a:t>등</a:t>
            </a: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900" b="0" i="0" u="none" strike="noStrike">
                <a:solidFill>
                  <a:srgbClr val="FFFFFF"/>
                </a:solidFill>
                <a:ea typeface="SF_HailSnow"/>
              </a:rPr>
              <a:t>설명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98000" y="5499100"/>
            <a:ext cx="55245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2900" b="0" i="0" u="none" strike="noStrike">
                <a:solidFill>
                  <a:srgbClr val="FFFFFF"/>
                </a:solidFill>
                <a:ea typeface="SF_HailSnow"/>
              </a:rPr>
              <a:t>③ </a:t>
            </a:r>
            <a:r>
              <a:rPr lang="ko-KR" sz="2900" b="0" i="0" u="none" strike="noStrike">
                <a:solidFill>
                  <a:srgbClr val="FFFFFF"/>
                </a:solidFill>
                <a:ea typeface="SF_HailSnow"/>
              </a:rPr>
              <a:t>각</a:t>
            </a: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900" b="0" i="0" u="none" strike="noStrike">
                <a:solidFill>
                  <a:srgbClr val="FFFFFF"/>
                </a:solidFill>
                <a:ea typeface="SF_HailSnow"/>
              </a:rPr>
              <a:t>페이지별</a:t>
            </a: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900" b="0" i="0" u="none" strike="noStrike">
                <a:solidFill>
                  <a:srgbClr val="FFFFFF"/>
                </a:solidFill>
                <a:ea typeface="SF_HailSnow"/>
              </a:rPr>
              <a:t>테스트</a:t>
            </a: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900" b="0" i="0" u="none" strike="noStrike">
                <a:solidFill>
                  <a:srgbClr val="FFFFFF"/>
                </a:solidFill>
                <a:ea typeface="SF_HailSnow"/>
              </a:rPr>
              <a:t>케이스</a:t>
            </a: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900" b="0" i="0" u="none" strike="noStrike">
                <a:solidFill>
                  <a:srgbClr val="FFFFFF"/>
                </a:solidFill>
                <a:ea typeface="SF_HailSnow"/>
              </a:rPr>
              <a:t>확인</a:t>
            </a: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 </a:t>
            </a:r>
          </a:p>
          <a:p>
            <a:pPr lvl="0" algn="l">
              <a:lnSpc>
                <a:spcPct val="124499"/>
              </a:lnSpc>
            </a:pPr>
            <a:r>
              <a:rPr lang="en-US" sz="2900" b="0" i="0" u="none" strike="noStrike">
                <a:solidFill>
                  <a:srgbClr val="FFFFFF"/>
                </a:solidFill>
                <a:ea typeface="SF_HailSnow"/>
              </a:rPr>
              <a:t>④ </a:t>
            </a:r>
            <a:r>
              <a:rPr lang="ko-KR" sz="2900" b="0" i="0" u="none" strike="noStrike">
                <a:solidFill>
                  <a:srgbClr val="FFFFFF"/>
                </a:solidFill>
                <a:ea typeface="SF_HailSnow"/>
              </a:rPr>
              <a:t>중요</a:t>
            </a: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900" b="0" i="0" u="none" strike="noStrike">
                <a:solidFill>
                  <a:srgbClr val="FFFFFF"/>
                </a:solidFill>
                <a:ea typeface="SF_HailSnow"/>
              </a:rPr>
              <a:t>기술</a:t>
            </a: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900" b="0" i="0" u="none" strike="noStrike">
                <a:solidFill>
                  <a:srgbClr val="FFFFFF"/>
                </a:solidFill>
                <a:ea typeface="SF_HailSnow"/>
              </a:rPr>
              <a:t>설명</a:t>
            </a: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900" b="0" i="0" u="none" strike="noStrike">
                <a:solidFill>
                  <a:srgbClr val="FFFFFF"/>
                </a:solidFill>
                <a:ea typeface="SF_HailSnow"/>
              </a:rPr>
              <a:t>및</a:t>
            </a: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900" b="0" i="0" u="none" strike="noStrike">
                <a:solidFill>
                  <a:srgbClr val="FFFFFF"/>
                </a:solidFill>
                <a:ea typeface="SF_HailSnow"/>
              </a:rPr>
              <a:t>개발</a:t>
            </a: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900" b="0" i="0" u="none" strike="noStrike">
                <a:solidFill>
                  <a:srgbClr val="FFFFFF"/>
                </a:solidFill>
                <a:ea typeface="SF_HailSnow"/>
              </a:rPr>
              <a:t>페이지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98000" y="7962900"/>
            <a:ext cx="53467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2900" b="0" i="0" u="none" strike="noStrike">
                <a:solidFill>
                  <a:srgbClr val="FFFFFF"/>
                </a:solidFill>
                <a:ea typeface="SF_HailSnow"/>
              </a:rPr>
              <a:t>⑤ </a:t>
            </a:r>
            <a:r>
              <a:rPr lang="ko-KR" sz="2900" b="0" i="0" u="none" strike="noStrike">
                <a:solidFill>
                  <a:srgbClr val="FFFFFF"/>
                </a:solidFill>
                <a:ea typeface="SF_HailSnow"/>
              </a:rPr>
              <a:t>개발</a:t>
            </a: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900" b="0" i="0" u="none" strike="noStrike">
                <a:solidFill>
                  <a:srgbClr val="FFFFFF"/>
                </a:solidFill>
                <a:ea typeface="SF_HailSnow"/>
              </a:rPr>
              <a:t>웹페이지</a:t>
            </a: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900" b="0" i="0" u="none" strike="noStrike">
                <a:solidFill>
                  <a:srgbClr val="FFFFFF"/>
                </a:solidFill>
                <a:ea typeface="SF_HailSnow"/>
              </a:rPr>
              <a:t>시연</a:t>
            </a: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900" b="0" i="0" u="none" strike="noStrike">
                <a:solidFill>
                  <a:srgbClr val="FFFFFF"/>
                </a:solidFill>
                <a:ea typeface="SF_HailSnow"/>
              </a:rPr>
              <a:t>및</a:t>
            </a: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900" b="0" i="0" u="none" strike="noStrike">
                <a:solidFill>
                  <a:srgbClr val="FFFFFF"/>
                </a:solidFill>
                <a:ea typeface="SF_HailSnow"/>
              </a:rPr>
              <a:t>후기</a:t>
            </a:r>
          </a:p>
          <a:p>
            <a:pPr lvl="0" algn="l">
              <a:lnSpc>
                <a:spcPct val="124499"/>
              </a:lnSpc>
            </a:pPr>
            <a:r>
              <a:rPr lang="en-US" sz="2900" b="0" i="0" u="none" strike="noStrike">
                <a:solidFill>
                  <a:srgbClr val="FFFFFF"/>
                </a:solidFill>
                <a:ea typeface="SF_HailSnow"/>
              </a:rPr>
              <a:t>⑥ </a:t>
            </a:r>
            <a:r>
              <a:rPr lang="ko-KR" sz="2900" b="0" i="0" u="none" strike="noStrike">
                <a:solidFill>
                  <a:srgbClr val="FFFFFF"/>
                </a:solidFill>
                <a:ea typeface="SF_HailSnow"/>
              </a:rPr>
              <a:t>피드백</a:t>
            </a: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900" b="0" i="0" u="none" strike="noStrike">
                <a:solidFill>
                  <a:srgbClr val="FFFFFF"/>
                </a:solidFill>
                <a:ea typeface="SF_HailSnow"/>
              </a:rPr>
              <a:t>및</a:t>
            </a: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900" b="0" i="0" u="none" strike="noStrike">
                <a:solidFill>
                  <a:srgbClr val="FFFFFF"/>
                </a:solidFill>
                <a:ea typeface="SF_HailSnow"/>
              </a:rPr>
              <a:t>질의응답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7602200" y="-38100"/>
            <a:ext cx="698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447800" y="10795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1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806700"/>
            <a:ext cx="520700" cy="520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0700" y="3073400"/>
            <a:ext cx="5549900" cy="3276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1800" y="2603500"/>
            <a:ext cx="8102600" cy="1511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0" y="5232400"/>
            <a:ext cx="8102600" cy="1511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0" y="7912100"/>
            <a:ext cx="8102600" cy="1511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8300" y="5600700"/>
            <a:ext cx="673100" cy="812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0700" y="6997700"/>
            <a:ext cx="5549900" cy="1816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2120900" y="4572000"/>
            <a:ext cx="4889500" cy="38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2120900" y="7823200"/>
            <a:ext cx="4889500" cy="38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21200" y="1079500"/>
            <a:ext cx="34798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개요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563100" y="3022600"/>
            <a:ext cx="76073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3700" b="0" i="0" u="none" strike="noStrike" spc="-100">
                <a:solidFill>
                  <a:srgbClr val="FFFFFF"/>
                </a:solidFill>
                <a:latin typeface="SF_HailSnow"/>
              </a:rPr>
              <a:t>Spring </a:t>
            </a:r>
            <a:r>
              <a:rPr lang="ko-KR" sz="3700" b="0" i="0" u="none" strike="noStrike" spc="-100">
                <a:solidFill>
                  <a:srgbClr val="FFFFFF"/>
                </a:solidFill>
                <a:ea typeface="SF_HailSnow"/>
              </a:rPr>
              <a:t>기반</a:t>
            </a:r>
            <a:r>
              <a:rPr lang="en-US" sz="3700" b="0" i="0" u="none" strike="noStrike" spc="-1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700" b="0" i="0" u="none" strike="noStrike" spc="-100">
                <a:solidFill>
                  <a:srgbClr val="FFFFFF"/>
                </a:solidFill>
                <a:ea typeface="SF_HailSnow"/>
              </a:rPr>
              <a:t>어노테이션</a:t>
            </a:r>
            <a:r>
              <a:rPr lang="en-US" sz="3700" b="0" i="0" u="none" strike="noStrike" spc="-1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700" b="0" i="0" u="none" strike="noStrike" spc="-100">
                <a:solidFill>
                  <a:srgbClr val="FFFFFF"/>
                </a:solidFill>
                <a:ea typeface="SF_HailSnow"/>
              </a:rPr>
              <a:t>적용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563100" y="5651500"/>
            <a:ext cx="76454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3700" b="0" i="0" u="none" strike="noStrike">
                <a:solidFill>
                  <a:srgbClr val="FFFFFF"/>
                </a:solidFill>
                <a:ea typeface="SF_HailSnow"/>
              </a:rPr>
              <a:t>차트</a:t>
            </a:r>
            <a:r>
              <a:rPr lang="en-US" sz="3700" b="0" i="0" u="none" strike="noStrike">
                <a:solidFill>
                  <a:srgbClr val="FFFFFF"/>
                </a:solidFill>
                <a:latin typeface="SF_HailSnow"/>
              </a:rPr>
              <a:t>, </a:t>
            </a:r>
            <a:r>
              <a:rPr lang="ko-KR" sz="3700" b="0" i="0" u="none" strike="noStrike">
                <a:solidFill>
                  <a:srgbClr val="FFFFFF"/>
                </a:solidFill>
                <a:ea typeface="SF_HailSnow"/>
              </a:rPr>
              <a:t>도표</a:t>
            </a:r>
            <a:r>
              <a:rPr lang="en-US" sz="3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700" b="0" i="0" u="none" strike="noStrike">
                <a:solidFill>
                  <a:srgbClr val="FFFFFF"/>
                </a:solidFill>
                <a:ea typeface="SF_HailSnow"/>
              </a:rPr>
              <a:t>등</a:t>
            </a:r>
            <a:r>
              <a:rPr lang="en-US" sz="3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700" b="0" i="0" u="none" strike="noStrike">
                <a:solidFill>
                  <a:srgbClr val="FFFFFF"/>
                </a:solidFill>
                <a:ea typeface="SF_HailSnow"/>
              </a:rPr>
              <a:t>시각</a:t>
            </a:r>
            <a:r>
              <a:rPr lang="en-US" sz="3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700" b="0" i="0" u="none" strike="noStrike">
                <a:solidFill>
                  <a:srgbClr val="FFFFFF"/>
                </a:solidFill>
                <a:ea typeface="SF_HailSnow"/>
              </a:rPr>
              <a:t>자료</a:t>
            </a:r>
            <a:r>
              <a:rPr lang="en-US" sz="3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700" b="0" i="0" u="none" strike="noStrike">
                <a:solidFill>
                  <a:srgbClr val="FFFFFF"/>
                </a:solidFill>
                <a:ea typeface="SF_HailSnow"/>
              </a:rPr>
              <a:t>활용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550400" y="8331200"/>
            <a:ext cx="76708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3700" b="0" i="0" u="none" strike="noStrike" spc="-100">
                <a:solidFill>
                  <a:srgbClr val="FFFFFF"/>
                </a:solidFill>
                <a:ea typeface="SF_HailSnow"/>
              </a:rPr>
              <a:t>보안</a:t>
            </a:r>
            <a:r>
              <a:rPr lang="en-US" sz="3700" b="0" i="0" u="none" strike="noStrike" spc="-1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700" b="0" i="0" u="none" strike="noStrike" spc="-100">
                <a:solidFill>
                  <a:srgbClr val="FFFFFF"/>
                </a:solidFill>
                <a:ea typeface="SF_HailSnow"/>
              </a:rPr>
              <a:t>기능</a:t>
            </a:r>
            <a:r>
              <a:rPr lang="en-US" sz="3700" b="0" i="0" u="none" strike="noStrike" spc="-1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700" b="0" i="0" u="none" strike="noStrike" spc="-100">
                <a:solidFill>
                  <a:srgbClr val="FFFFFF"/>
                </a:solidFill>
                <a:ea typeface="SF_HailSnow"/>
              </a:rPr>
              <a:t>강화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74800" y="3162300"/>
            <a:ext cx="59690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3400" b="0" i="0" u="none" strike="noStrike" spc="-200">
                <a:solidFill>
                  <a:srgbClr val="FFFFFF"/>
                </a:solidFill>
                <a:ea typeface="SF_HailSnow"/>
              </a:rPr>
              <a:t>제품추적관리</a:t>
            </a:r>
          </a:p>
          <a:p>
            <a:pPr lvl="0" algn="ctr">
              <a:lnSpc>
                <a:spcPct val="124499"/>
              </a:lnSpc>
            </a:pPr>
            <a:r>
              <a:rPr lang="ko-KR" sz="3400" b="0" i="0" u="none" strike="noStrike" spc="-200">
                <a:solidFill>
                  <a:srgbClr val="FFFFFF"/>
                </a:solidFill>
                <a:ea typeface="SF_HailSnow"/>
              </a:rPr>
              <a:t>모니터링</a:t>
            </a:r>
            <a:r>
              <a:rPr lang="en-US" sz="3400" b="0" i="0" u="none" strike="noStrike" spc="-2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400" b="0" i="0" u="none" strike="noStrike" spc="-200">
                <a:solidFill>
                  <a:srgbClr val="FFFFFF"/>
                </a:solidFill>
                <a:ea typeface="SF_HailSnow"/>
              </a:rPr>
              <a:t>웹</a:t>
            </a:r>
            <a:r>
              <a:rPr lang="en-US" sz="3400" b="0" i="0" u="none" strike="noStrike" spc="-2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400" b="0" i="0" u="none" strike="noStrike" spc="-200">
                <a:solidFill>
                  <a:srgbClr val="FFFFFF"/>
                </a:solidFill>
                <a:ea typeface="SF_HailSnow"/>
              </a:rPr>
              <a:t>솔루션</a:t>
            </a:r>
            <a:r>
              <a:rPr lang="en-US" sz="3400" b="0" i="0" u="none" strike="noStrike" spc="-200">
                <a:solidFill>
                  <a:srgbClr val="FFFFFF"/>
                </a:solidFill>
                <a:latin typeface="SF_HailSnow"/>
              </a:rPr>
              <a:t> (WEB-MES)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30400" y="7162800"/>
            <a:ext cx="51181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3400" b="0" i="0" u="none" strike="noStrike" spc="-200">
                <a:solidFill>
                  <a:srgbClr val="FFFFFF"/>
                </a:solidFill>
                <a:ea typeface="SF_HailSnow"/>
              </a:rPr>
              <a:t>개발</a:t>
            </a:r>
            <a:r>
              <a:rPr lang="en-US" sz="3400" b="0" i="0" u="none" strike="noStrike" spc="-2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400" b="0" i="0" u="none" strike="noStrike" spc="-200">
                <a:solidFill>
                  <a:srgbClr val="FFFFFF"/>
                </a:solidFill>
                <a:ea typeface="SF_HailSnow"/>
              </a:rPr>
              <a:t>일정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806700" y="7962900"/>
            <a:ext cx="33655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3400" b="0" i="0" u="none" strike="noStrike" spc="-200">
                <a:solidFill>
                  <a:srgbClr val="FFFFFF"/>
                </a:solidFill>
                <a:latin typeface="SF_HailSnow"/>
              </a:rPr>
              <a:t>10. 07. - 10. 24.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7602200" y="-38100"/>
            <a:ext cx="698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070100" y="4940300"/>
            <a:ext cx="4991100" cy="990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2700" b="0" i="0" u="none" strike="noStrike" spc="-100">
                <a:solidFill>
                  <a:srgbClr val="FFFFFF"/>
                </a:solidFill>
                <a:ea typeface="SF_HailSnow"/>
              </a:rPr>
              <a:t>만두</a:t>
            </a:r>
            <a:r>
              <a:rPr lang="en-US" sz="2700" b="0" i="0" u="none" strike="noStrike" spc="-1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700" b="0" i="0" u="none" strike="noStrike" spc="-100">
                <a:solidFill>
                  <a:srgbClr val="FFFFFF"/>
                </a:solidFill>
                <a:ea typeface="SF_HailSnow"/>
              </a:rPr>
              <a:t>소를</a:t>
            </a:r>
            <a:r>
              <a:rPr lang="en-US" sz="2700" b="0" i="0" u="none" strike="noStrike" spc="-1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700" b="0" i="0" u="none" strike="noStrike" spc="-100">
                <a:solidFill>
                  <a:srgbClr val="FFFFFF"/>
                </a:solidFill>
                <a:ea typeface="SF_HailSnow"/>
              </a:rPr>
              <a:t>효율적으로</a:t>
            </a:r>
            <a:r>
              <a:rPr lang="en-US" sz="2700" b="0" i="0" u="none" strike="noStrike" spc="-1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700" b="0" i="0" u="none" strike="noStrike" spc="-100">
                <a:solidFill>
                  <a:srgbClr val="FFFFFF"/>
                </a:solidFill>
                <a:ea typeface="SF_HailSnow"/>
              </a:rPr>
              <a:t>관리하여</a:t>
            </a:r>
            <a:r>
              <a:rPr lang="en-US" sz="2700" b="0" i="0" u="none" strike="noStrike" spc="-1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700" b="0" i="0" u="none" strike="noStrike" spc="-100">
                <a:solidFill>
                  <a:srgbClr val="FFFFFF"/>
                </a:solidFill>
                <a:ea typeface="SF_HailSnow"/>
              </a:rPr>
              <a:t>식품관리를</a:t>
            </a:r>
            <a:r>
              <a:rPr lang="en-US" sz="2700" b="0" i="0" u="none" strike="noStrike" spc="-1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700" b="0" i="0" u="none" strike="noStrike" spc="-100">
                <a:solidFill>
                  <a:srgbClr val="FFFFFF"/>
                </a:solidFill>
                <a:ea typeface="SF_HailSnow"/>
              </a:rPr>
              <a:t>할</a:t>
            </a:r>
            <a:r>
              <a:rPr lang="en-US" sz="2700" b="0" i="0" u="none" strike="noStrike" spc="-1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700" b="0" i="0" u="none" strike="noStrike" spc="-100">
                <a:solidFill>
                  <a:srgbClr val="FFFFFF"/>
                </a:solidFill>
                <a:ea typeface="SF_HailSnow"/>
              </a:rPr>
              <a:t>수</a:t>
            </a:r>
            <a:r>
              <a:rPr lang="en-US" sz="2700" b="0" i="0" u="none" strike="noStrike" spc="-1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700" b="0" i="0" u="none" strike="noStrike" spc="-100">
                <a:solidFill>
                  <a:srgbClr val="FFFFFF"/>
                </a:solidFill>
                <a:ea typeface="SF_HailSnow"/>
              </a:rPr>
              <a:t>있도록</a:t>
            </a:r>
            <a:r>
              <a:rPr lang="en-US" sz="2700" b="0" i="0" u="none" strike="noStrike" spc="-100">
                <a:solidFill>
                  <a:srgbClr val="FFFFFF"/>
                </a:solidFill>
                <a:latin typeface="SF_HailSnow"/>
              </a:rPr>
              <a:t> MES </a:t>
            </a:r>
            <a:r>
              <a:rPr lang="ko-KR" sz="2700" b="0" i="0" u="none" strike="noStrike" spc="-100">
                <a:solidFill>
                  <a:srgbClr val="FFFFFF"/>
                </a:solidFill>
                <a:ea typeface="SF_HailSnow"/>
              </a:rPr>
              <a:t>프로그램</a:t>
            </a:r>
            <a:r>
              <a:rPr lang="en-US" sz="2700" b="0" i="0" u="none" strike="noStrike" spc="-1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700" b="0" i="0" u="none" strike="noStrike" spc="-100">
                <a:solidFill>
                  <a:srgbClr val="FFFFFF"/>
                </a:solidFill>
                <a:ea typeface="SF_HailSnow"/>
              </a:rPr>
              <a:t>개발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051300"/>
            <a:ext cx="520700" cy="520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14500" y="2921000"/>
            <a:ext cx="8458200" cy="6223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55200" y="3492500"/>
            <a:ext cx="7747000" cy="5092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447800" y="10668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21200" y="1041400"/>
            <a:ext cx="34925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기획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35900" y="1168400"/>
            <a:ext cx="33655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3400" b="0" i="0" u="none" strike="noStrike" spc="-200">
                <a:solidFill>
                  <a:srgbClr val="FFFFFF"/>
                </a:solidFill>
                <a:ea typeface="SF_HailSnow"/>
              </a:rPr>
              <a:t>개발</a:t>
            </a:r>
            <a:r>
              <a:rPr lang="en-US" sz="3400" b="0" i="0" u="none" strike="noStrike" spc="-2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400" b="0" i="0" u="none" strike="noStrike" spc="-200">
                <a:solidFill>
                  <a:srgbClr val="FFFFFF"/>
                </a:solidFill>
                <a:ea typeface="SF_HailSnow"/>
              </a:rPr>
              <a:t>일정</a:t>
            </a:r>
            <a:r>
              <a:rPr lang="en-US" sz="3400" b="0" i="0" u="none" strike="noStrike" spc="-2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400" b="0" i="0" u="none" strike="noStrike" spc="-200">
                <a:solidFill>
                  <a:srgbClr val="FFFFFF"/>
                </a:solidFill>
                <a:ea typeface="SF_HailSnow"/>
              </a:rPr>
              <a:t>관리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602200" y="-38100"/>
            <a:ext cx="698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051300"/>
            <a:ext cx="520700" cy="520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47900" y="2603500"/>
            <a:ext cx="14592300" cy="7035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447800" y="10668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21200" y="1041400"/>
            <a:ext cx="34925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기획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877300" y="1193800"/>
            <a:ext cx="13462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3400" b="0" i="0" u="none" strike="noStrike" spc="-200">
                <a:solidFill>
                  <a:srgbClr val="FFFFFF"/>
                </a:solidFill>
                <a:latin typeface="SF_HailSnow"/>
              </a:rPr>
              <a:t>UML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602200" y="-38100"/>
            <a:ext cx="698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051300"/>
            <a:ext cx="520700" cy="520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47900" y="2603500"/>
            <a:ext cx="14592300" cy="7035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447800" y="10668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21200" y="1041400"/>
            <a:ext cx="34925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기획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877300" y="1193800"/>
            <a:ext cx="13462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3400" b="0" i="0" u="none" strike="noStrike" spc="-200">
                <a:solidFill>
                  <a:srgbClr val="FFFFFF"/>
                </a:solidFill>
                <a:latin typeface="SF_HailSnow"/>
              </a:rPr>
              <a:t>ERD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602200" y="-38100"/>
            <a:ext cx="698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051300"/>
            <a:ext cx="520700" cy="520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27200" y="3060700"/>
            <a:ext cx="4610100" cy="273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27200" y="6070600"/>
            <a:ext cx="4597400" cy="2959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92900" y="3073400"/>
            <a:ext cx="5321300" cy="2743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05600" y="6108700"/>
            <a:ext cx="5308600" cy="2908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344400" y="3060700"/>
            <a:ext cx="4978400" cy="2743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344400" y="6134100"/>
            <a:ext cx="4978400" cy="28829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447800" y="10668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21200" y="1041400"/>
            <a:ext cx="34925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기획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835900" y="1168400"/>
            <a:ext cx="33655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3400" b="0" i="0" u="none" strike="noStrike" spc="-200">
                <a:solidFill>
                  <a:srgbClr val="FFFFFF"/>
                </a:solidFill>
                <a:ea typeface="SF_HailSnow"/>
              </a:rPr>
              <a:t>스토리보드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602200" y="-38100"/>
            <a:ext cx="698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283200"/>
            <a:ext cx="520700" cy="520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83200" y="3213100"/>
            <a:ext cx="12128500" cy="3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90700" y="2603500"/>
            <a:ext cx="3619500" cy="1371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alphaModFix amt="10000"/>
          </a:blip>
          <a:stretch>
            <a:fillRect/>
          </a:stretch>
        </p:blipFill>
        <p:spPr>
          <a:xfrm>
            <a:off x="1778000" y="4635500"/>
            <a:ext cx="3632200" cy="4813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>
            <a:alphaModFix amt="10000"/>
          </a:blip>
          <a:stretch>
            <a:fillRect/>
          </a:stretch>
        </p:blipFill>
        <p:spPr>
          <a:xfrm>
            <a:off x="5981700" y="4660900"/>
            <a:ext cx="3619500" cy="4813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>
            <a:alphaModFix amt="10000"/>
          </a:blip>
          <a:stretch>
            <a:fillRect/>
          </a:stretch>
        </p:blipFill>
        <p:spPr>
          <a:xfrm>
            <a:off x="10185400" y="4635500"/>
            <a:ext cx="3594100" cy="4813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90700" y="4635500"/>
            <a:ext cx="3619500" cy="4813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85400" y="4635500"/>
            <a:ext cx="3594100" cy="48133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07100" y="4635500"/>
            <a:ext cx="3594100" cy="4826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5400000">
            <a:off x="3276600" y="4305300"/>
            <a:ext cx="698500" cy="381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5400000">
            <a:off x="7454900" y="4305300"/>
            <a:ext cx="698500" cy="381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5400000">
            <a:off x="11658600" y="4305300"/>
            <a:ext cx="698500" cy="381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81700" y="2603500"/>
            <a:ext cx="3619500" cy="13716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287500" y="2603500"/>
            <a:ext cx="3619500" cy="13716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60000" y="2603500"/>
            <a:ext cx="3619500" cy="13716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5400000">
            <a:off x="15760700" y="4305300"/>
            <a:ext cx="698500" cy="381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312900" y="4635500"/>
            <a:ext cx="3594100" cy="48260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3">
            <a:alphaModFix amt="10000"/>
          </a:blip>
          <a:stretch>
            <a:fillRect/>
          </a:stretch>
        </p:blipFill>
        <p:spPr>
          <a:xfrm>
            <a:off x="14312900" y="4635500"/>
            <a:ext cx="3619500" cy="48133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447800" y="10795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200">
                <a:solidFill>
                  <a:srgbClr val="41C5FF"/>
                </a:solidFill>
                <a:latin typeface="SF_HailSnow"/>
              </a:rPr>
              <a:t>PART 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21200" y="1079500"/>
            <a:ext cx="28575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역할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분담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85900" y="2755900"/>
            <a:ext cx="42291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2800" b="0" i="0" u="none" strike="noStrike" spc="-100">
                <a:solidFill>
                  <a:srgbClr val="FFFFFF"/>
                </a:solidFill>
                <a:ea typeface="SF_HailSnow"/>
              </a:rPr>
              <a:t>팀장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5201900" y="2971800"/>
            <a:ext cx="17653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3400" b="0" i="0" u="none" strike="noStrike" spc="-200">
                <a:solidFill>
                  <a:srgbClr val="FFFFFF"/>
                </a:solidFill>
                <a:ea typeface="SF_HailSnow"/>
              </a:rPr>
              <a:t>현준수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087100" y="2971800"/>
            <a:ext cx="17653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3400" b="0" i="0" u="none" strike="noStrike" spc="-200">
                <a:solidFill>
                  <a:srgbClr val="FFFFFF"/>
                </a:solidFill>
                <a:ea typeface="SF_HailSnow"/>
              </a:rPr>
              <a:t>맹채윤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908800" y="2971800"/>
            <a:ext cx="17653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3400" b="0" i="0" u="none" strike="noStrike" spc="-200">
                <a:solidFill>
                  <a:srgbClr val="FFFFFF"/>
                </a:solidFill>
                <a:ea typeface="SF_HailSnow"/>
              </a:rPr>
              <a:t>김성령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832100" y="3200400"/>
            <a:ext cx="15367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3400" b="0" i="0" u="none" strike="noStrike" spc="-200">
                <a:solidFill>
                  <a:srgbClr val="FFFFFF"/>
                </a:solidFill>
                <a:ea typeface="SF_HailSnow"/>
              </a:rPr>
              <a:t>박경민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082800" y="4940300"/>
            <a:ext cx="3060700" cy="416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2500" b="0" i="0" u="none" strike="noStrike" spc="-100">
                <a:solidFill>
                  <a:srgbClr val="FFFFFF"/>
                </a:solidFill>
                <a:ea typeface="SF_HailSnow"/>
              </a:rPr>
              <a:t>로그인</a:t>
            </a:r>
            <a:r>
              <a:rPr lang="en-US" sz="2500" b="0" i="0" u="none" strike="noStrike" spc="-1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>
                <a:solidFill>
                  <a:srgbClr val="FFFFFF"/>
                </a:solidFill>
                <a:ea typeface="SF_HailSnow"/>
              </a:rPr>
              <a:t>및</a:t>
            </a:r>
            <a:r>
              <a:rPr lang="en-US" sz="2500" b="0" i="0" u="none" strike="noStrike" spc="-1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>
                <a:solidFill>
                  <a:srgbClr val="FFFFFF"/>
                </a:solidFill>
                <a:ea typeface="SF_HailSnow"/>
              </a:rPr>
              <a:t>회원가입</a:t>
            </a:r>
          </a:p>
          <a:p>
            <a:pPr lvl="0" algn="ctr">
              <a:lnSpc>
                <a:spcPct val="124499"/>
              </a:lnSpc>
            </a:pPr>
            <a:r>
              <a:rPr lang="en-US" sz="2500" b="0" i="0" u="none" strike="noStrike" spc="-100">
                <a:solidFill>
                  <a:srgbClr val="FFFFFF"/>
                </a:solidFill>
                <a:latin typeface="SF_HailSnow"/>
              </a:rPr>
              <a:t>[</a:t>
            </a:r>
            <a:r>
              <a:rPr lang="ko-KR" sz="2500" b="0" i="0" u="none" strike="noStrike" spc="-100">
                <a:solidFill>
                  <a:srgbClr val="FFFFFF"/>
                </a:solidFill>
                <a:ea typeface="SF_HailSnow"/>
              </a:rPr>
              <a:t>실적</a:t>
            </a:r>
            <a:r>
              <a:rPr lang="en-US" sz="2500" b="0" i="0" u="none" strike="noStrike" spc="-1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>
                <a:solidFill>
                  <a:srgbClr val="FFFFFF"/>
                </a:solidFill>
                <a:ea typeface="SF_HailSnow"/>
              </a:rPr>
              <a:t>및</a:t>
            </a:r>
            <a:r>
              <a:rPr lang="en-US" sz="2500" b="0" i="0" u="none" strike="noStrike" spc="-1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>
                <a:solidFill>
                  <a:srgbClr val="FFFFFF"/>
                </a:solidFill>
                <a:ea typeface="SF_HailSnow"/>
              </a:rPr>
              <a:t>출하</a:t>
            </a:r>
            <a:r>
              <a:rPr lang="en-US" sz="2500" b="0" i="0" u="none" strike="noStrike" spc="-100">
                <a:solidFill>
                  <a:srgbClr val="FFFFFF"/>
                </a:solidFill>
                <a:latin typeface="SF_HailSnow"/>
              </a:rPr>
              <a:t>]</a:t>
            </a:r>
          </a:p>
          <a:p>
            <a:pPr lvl="0" algn="ctr">
              <a:lnSpc>
                <a:spcPct val="124499"/>
              </a:lnSpc>
            </a:pPr>
            <a:r>
              <a:rPr lang="ko-KR" sz="2500" b="0" i="0" u="none" strike="noStrike" spc="-100">
                <a:solidFill>
                  <a:srgbClr val="FFFFFF"/>
                </a:solidFill>
                <a:ea typeface="SF_HailSnow"/>
              </a:rPr>
              <a:t>실적마감</a:t>
            </a:r>
          </a:p>
          <a:p>
            <a:pPr lvl="0" algn="ctr">
              <a:lnSpc>
                <a:spcPct val="124499"/>
              </a:lnSpc>
            </a:pPr>
            <a:r>
              <a:rPr lang="ko-KR" sz="2500" b="0" i="0" u="none" strike="noStrike" spc="-100">
                <a:solidFill>
                  <a:srgbClr val="FFFFFF"/>
                </a:solidFill>
                <a:ea typeface="SF_HailSnow"/>
              </a:rPr>
              <a:t>출하확인</a:t>
            </a:r>
          </a:p>
          <a:p>
            <a:pPr lvl="0" algn="ctr">
              <a:lnSpc>
                <a:spcPct val="124499"/>
              </a:lnSpc>
            </a:pPr>
            <a:r>
              <a:rPr lang="en-US" sz="2500" b="0" i="0" u="none" strike="noStrike" spc="-100">
                <a:solidFill>
                  <a:srgbClr val="FFFFFF"/>
                </a:solidFill>
                <a:latin typeface="SF_HailSnow"/>
              </a:rPr>
              <a:t>[</a:t>
            </a:r>
            <a:r>
              <a:rPr lang="ko-KR" sz="2500" b="0" i="0" u="none" strike="noStrike" spc="-100">
                <a:solidFill>
                  <a:srgbClr val="FFFFFF"/>
                </a:solidFill>
                <a:ea typeface="SF_HailSnow"/>
              </a:rPr>
              <a:t>마이페이지</a:t>
            </a:r>
            <a:r>
              <a:rPr lang="en-US" sz="2500" b="0" i="0" u="none" strike="noStrike" spc="-100">
                <a:solidFill>
                  <a:srgbClr val="FFFFFF"/>
                </a:solidFill>
                <a:latin typeface="SF_HailSnow"/>
              </a:rPr>
              <a:t>]</a:t>
            </a:r>
          </a:p>
          <a:p>
            <a:pPr lvl="0" algn="ctr">
              <a:lnSpc>
                <a:spcPct val="124499"/>
              </a:lnSpc>
            </a:pPr>
            <a:r>
              <a:rPr lang="ko-KR" sz="2500" b="0" i="0" u="none" strike="noStrike" spc="-100">
                <a:solidFill>
                  <a:srgbClr val="FFFFFF"/>
                </a:solidFill>
                <a:ea typeface="SF_HailSnow"/>
              </a:rPr>
              <a:t>계정관리</a:t>
            </a:r>
          </a:p>
          <a:p>
            <a:pPr lvl="0" algn="ctr">
              <a:lnSpc>
                <a:spcPct val="124499"/>
              </a:lnSpc>
            </a:pPr>
            <a:r>
              <a:rPr lang="ko-KR" sz="2500" b="0" i="0" u="none" strike="noStrike" spc="-100">
                <a:solidFill>
                  <a:srgbClr val="FFFFFF"/>
                </a:solidFill>
                <a:ea typeface="SF_HailSnow"/>
              </a:rPr>
              <a:t>사내게시판</a:t>
            </a:r>
          </a:p>
          <a:p>
            <a:pPr lvl="0" algn="ctr">
              <a:lnSpc>
                <a:spcPct val="124499"/>
              </a:lnSpc>
            </a:pPr>
            <a:r>
              <a:rPr lang="ko-KR" sz="2500" b="0" i="0" u="none" strike="noStrike" spc="-100">
                <a:solidFill>
                  <a:srgbClr val="FFFFFF"/>
                </a:solidFill>
                <a:ea typeface="SF_HailSnow"/>
              </a:rPr>
              <a:t>일정관리</a:t>
            </a:r>
          </a:p>
          <a:p>
            <a:pPr lvl="0" algn="ctr">
              <a:lnSpc>
                <a:spcPct val="124499"/>
              </a:lnSpc>
            </a:pPr>
            <a:r>
              <a:rPr lang="ko-KR" sz="2500" b="0" i="0" u="none" strike="noStrike" spc="-100">
                <a:solidFill>
                  <a:srgbClr val="FFFFFF"/>
                </a:solidFill>
                <a:ea typeface="SF_HailSnow"/>
              </a:rPr>
              <a:t>메인페이지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592300" y="4940300"/>
            <a:ext cx="3073400" cy="415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2800" b="0" i="0" u="none" strike="noStrike" spc="-100">
                <a:solidFill>
                  <a:srgbClr val="FFFFFF"/>
                </a:solidFill>
                <a:latin typeface="SF_HailSnow"/>
              </a:rPr>
              <a:t>[</a:t>
            </a:r>
            <a:r>
              <a:rPr lang="ko-KR" sz="2800" b="0" i="0" u="none" strike="noStrike" spc="-100">
                <a:solidFill>
                  <a:srgbClr val="FFFFFF"/>
                </a:solidFill>
                <a:ea typeface="SF_HailSnow"/>
              </a:rPr>
              <a:t>재고관리</a:t>
            </a:r>
            <a:r>
              <a:rPr lang="en-US" sz="2800" b="0" i="0" u="none" strike="noStrike" spc="-100">
                <a:solidFill>
                  <a:srgbClr val="FFFFFF"/>
                </a:solidFill>
                <a:latin typeface="SF_HailSnow"/>
              </a:rPr>
              <a:t>]</a:t>
            </a:r>
          </a:p>
          <a:p>
            <a:pPr lvl="0" algn="ctr">
              <a:lnSpc>
                <a:spcPct val="124499"/>
              </a:lnSpc>
            </a:pPr>
            <a:r>
              <a:rPr lang="ko-KR" sz="2800" b="0" i="0" u="none" strike="noStrike" spc="-100">
                <a:solidFill>
                  <a:srgbClr val="FFFFFF"/>
                </a:solidFill>
                <a:ea typeface="SF_HailSnow"/>
              </a:rPr>
              <a:t>완제품</a:t>
            </a:r>
          </a:p>
          <a:p>
            <a:pPr lvl="0" algn="ctr">
              <a:lnSpc>
                <a:spcPct val="124499"/>
              </a:lnSpc>
            </a:pPr>
            <a:r>
              <a:rPr lang="ko-KR" sz="2800" b="0" i="0" u="none" strike="noStrike" spc="-100">
                <a:solidFill>
                  <a:srgbClr val="FFFFFF"/>
                </a:solidFill>
                <a:ea typeface="SF_HailSnow"/>
              </a:rPr>
              <a:t>원재료</a:t>
            </a:r>
          </a:p>
          <a:p>
            <a:pPr lvl="0" algn="ctr">
              <a:lnSpc>
                <a:spcPct val="124499"/>
              </a:lnSpc>
            </a:pPr>
            <a:r>
              <a:rPr lang="en-US" sz="2800" b="0" i="0" u="none" strike="noStrike" spc="-100">
                <a:solidFill>
                  <a:srgbClr val="FFFFFF"/>
                </a:solidFill>
                <a:latin typeface="SF_HailSnow"/>
              </a:rPr>
              <a:t>[</a:t>
            </a:r>
            <a:r>
              <a:rPr lang="ko-KR" sz="2800" b="0" i="0" u="none" strike="noStrike" spc="-100">
                <a:solidFill>
                  <a:srgbClr val="FFFFFF"/>
                </a:solidFill>
                <a:ea typeface="SF_HailSnow"/>
              </a:rPr>
              <a:t>공정관리</a:t>
            </a:r>
            <a:r>
              <a:rPr lang="en-US" sz="2800" b="0" i="0" u="none" strike="noStrike" spc="-100">
                <a:solidFill>
                  <a:srgbClr val="FFFFFF"/>
                </a:solidFill>
                <a:latin typeface="SF_HailSnow"/>
              </a:rPr>
              <a:t>]</a:t>
            </a:r>
          </a:p>
          <a:p>
            <a:pPr lvl="0" algn="ctr">
              <a:lnSpc>
                <a:spcPct val="124499"/>
              </a:lnSpc>
            </a:pPr>
            <a:r>
              <a:rPr lang="ko-KR" sz="2800" b="0" i="0" u="none" strike="noStrike" spc="-100">
                <a:solidFill>
                  <a:srgbClr val="FFFFFF"/>
                </a:solidFill>
                <a:ea typeface="SF_HailSnow"/>
              </a:rPr>
              <a:t>생산현황</a:t>
            </a:r>
          </a:p>
          <a:p>
            <a:pPr lvl="0" algn="ctr">
              <a:lnSpc>
                <a:spcPct val="124499"/>
              </a:lnSpc>
            </a:pPr>
            <a:r>
              <a:rPr lang="en-US" sz="2800" b="0" i="0" u="none" strike="noStrike" spc="-100">
                <a:solidFill>
                  <a:srgbClr val="FFFFFF"/>
                </a:solidFill>
                <a:latin typeface="SF_HailSnow"/>
              </a:rPr>
              <a:t>[</a:t>
            </a:r>
            <a:r>
              <a:rPr lang="ko-KR" sz="2800" b="0" i="0" u="none" strike="noStrike" spc="-100">
                <a:solidFill>
                  <a:srgbClr val="FFFFFF"/>
                </a:solidFill>
                <a:ea typeface="SF_HailSnow"/>
              </a:rPr>
              <a:t>품질관리</a:t>
            </a:r>
            <a:r>
              <a:rPr lang="en-US" sz="2800" b="0" i="0" u="none" strike="noStrike" spc="-100">
                <a:solidFill>
                  <a:srgbClr val="FFFFFF"/>
                </a:solidFill>
                <a:latin typeface="SF_HailSnow"/>
              </a:rPr>
              <a:t>]</a:t>
            </a:r>
          </a:p>
          <a:p>
            <a:pPr lvl="0" algn="ctr">
              <a:lnSpc>
                <a:spcPct val="124499"/>
              </a:lnSpc>
            </a:pPr>
            <a:r>
              <a:rPr lang="ko-KR" sz="2800" b="0" i="0" u="none" strike="noStrike" spc="-100">
                <a:solidFill>
                  <a:srgbClr val="FFFFFF"/>
                </a:solidFill>
                <a:ea typeface="SF_HailSnow"/>
              </a:rPr>
              <a:t>불량률파악보고서</a:t>
            </a:r>
          </a:p>
          <a:p>
            <a:pPr lvl="0" algn="ctr">
              <a:lnSpc>
                <a:spcPct val="124499"/>
              </a:lnSpc>
            </a:pPr>
            <a:r>
              <a:rPr lang="ko-KR" sz="2800" b="0" i="0" u="none" strike="noStrike" spc="-100">
                <a:solidFill>
                  <a:srgbClr val="FFFFFF"/>
                </a:solidFill>
                <a:ea typeface="SF_HailSnow"/>
              </a:rPr>
              <a:t>에러수량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452100" y="5842000"/>
            <a:ext cx="3073400" cy="205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2800" b="0" i="0" u="none" strike="noStrike" spc="-100">
                <a:solidFill>
                  <a:srgbClr val="FFFFFF"/>
                </a:solidFill>
                <a:latin typeface="SF_HailSnow"/>
              </a:rPr>
              <a:t>[</a:t>
            </a:r>
            <a:r>
              <a:rPr lang="ko-KR" sz="2800" b="0" i="0" u="none" strike="noStrike" spc="-100">
                <a:solidFill>
                  <a:srgbClr val="FFFFFF"/>
                </a:solidFill>
                <a:ea typeface="SF_HailSnow"/>
              </a:rPr>
              <a:t>생산계획</a:t>
            </a:r>
            <a:r>
              <a:rPr lang="en-US" sz="2800" b="0" i="0" u="none" strike="noStrike" spc="-100">
                <a:solidFill>
                  <a:srgbClr val="FFFFFF"/>
                </a:solidFill>
                <a:latin typeface="SF_HailSnow"/>
              </a:rPr>
              <a:t>]</a:t>
            </a:r>
          </a:p>
          <a:p>
            <a:pPr lvl="0" algn="ctr">
              <a:lnSpc>
                <a:spcPct val="124499"/>
              </a:lnSpc>
            </a:pPr>
            <a:r>
              <a:rPr lang="ko-KR" sz="2800" b="0" i="0" u="none" strike="noStrike" spc="-100">
                <a:solidFill>
                  <a:srgbClr val="FFFFFF"/>
                </a:solidFill>
                <a:ea typeface="SF_HailSnow"/>
              </a:rPr>
              <a:t>발주확인</a:t>
            </a:r>
          </a:p>
          <a:p>
            <a:pPr lvl="0" algn="ctr">
              <a:lnSpc>
                <a:spcPct val="124499"/>
              </a:lnSpc>
            </a:pPr>
            <a:r>
              <a:rPr lang="ko-KR" sz="2800" b="0" i="0" u="none" strike="noStrike" spc="-100">
                <a:solidFill>
                  <a:srgbClr val="FFFFFF"/>
                </a:solidFill>
                <a:ea typeface="SF_HailSnow"/>
              </a:rPr>
              <a:t>생산계획</a:t>
            </a:r>
          </a:p>
          <a:p>
            <a:pPr lvl="0" algn="ctr">
              <a:lnSpc>
                <a:spcPct val="124499"/>
              </a:lnSpc>
            </a:pPr>
            <a:r>
              <a:rPr lang="ko-KR" sz="2800" b="0" i="0" u="none" strike="noStrike" spc="-100">
                <a:solidFill>
                  <a:srgbClr val="FFFFFF"/>
                </a:solidFill>
                <a:ea typeface="SF_HailSnow"/>
              </a:rPr>
              <a:t>작업지시서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248400" y="5524500"/>
            <a:ext cx="3073400" cy="2578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2800" b="0" i="0" u="none" strike="noStrike" spc="-100">
                <a:solidFill>
                  <a:srgbClr val="FFFFFF"/>
                </a:solidFill>
                <a:latin typeface="SF_HailSnow"/>
              </a:rPr>
              <a:t>[</a:t>
            </a:r>
            <a:r>
              <a:rPr lang="ko-KR" sz="2800" b="0" i="0" u="none" strike="noStrike" spc="-100">
                <a:solidFill>
                  <a:srgbClr val="FFFFFF"/>
                </a:solidFill>
                <a:ea typeface="SF_HailSnow"/>
              </a:rPr>
              <a:t>기준관리</a:t>
            </a:r>
            <a:r>
              <a:rPr lang="en-US" sz="2800" b="0" i="0" u="none" strike="noStrike" spc="-100">
                <a:solidFill>
                  <a:srgbClr val="FFFFFF"/>
                </a:solidFill>
                <a:latin typeface="SF_HailSnow"/>
              </a:rPr>
              <a:t>]</a:t>
            </a:r>
          </a:p>
          <a:p>
            <a:pPr lvl="0" algn="ctr">
              <a:lnSpc>
                <a:spcPct val="124499"/>
              </a:lnSpc>
            </a:pPr>
            <a:r>
              <a:rPr lang="ko-KR" sz="2800" b="0" i="0" u="none" strike="noStrike" spc="-100">
                <a:solidFill>
                  <a:srgbClr val="FFFFFF"/>
                </a:solidFill>
                <a:ea typeface="SF_HailSnow"/>
              </a:rPr>
              <a:t>품목코드조회</a:t>
            </a:r>
          </a:p>
          <a:p>
            <a:pPr lvl="0" algn="ctr">
              <a:lnSpc>
                <a:spcPct val="124499"/>
              </a:lnSpc>
            </a:pPr>
            <a:r>
              <a:rPr lang="en-US" sz="2800" b="0" i="0" u="none" strike="noStrike" spc="-100">
                <a:solidFill>
                  <a:srgbClr val="FFFFFF"/>
                </a:solidFill>
                <a:latin typeface="SF_HailSnow"/>
              </a:rPr>
              <a:t>BOM </a:t>
            </a:r>
            <a:r>
              <a:rPr lang="ko-KR" sz="2800" b="0" i="0" u="none" strike="noStrike" spc="-100">
                <a:solidFill>
                  <a:srgbClr val="FFFFFF"/>
                </a:solidFill>
                <a:ea typeface="SF_HailSnow"/>
              </a:rPr>
              <a:t>레시피</a:t>
            </a:r>
            <a:r>
              <a:rPr lang="en-US" sz="2800" b="0" i="0" u="none" strike="noStrike" spc="-1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100">
                <a:solidFill>
                  <a:srgbClr val="FFFFFF"/>
                </a:solidFill>
                <a:ea typeface="SF_HailSnow"/>
              </a:rPr>
              <a:t>관리</a:t>
            </a:r>
          </a:p>
          <a:p>
            <a:pPr lvl="0" algn="ctr">
              <a:lnSpc>
                <a:spcPct val="124499"/>
              </a:lnSpc>
            </a:pPr>
            <a:r>
              <a:rPr lang="ko-KR" sz="2800" b="0" i="0" u="none" strike="noStrike" spc="-100">
                <a:solidFill>
                  <a:srgbClr val="FFFFFF"/>
                </a:solidFill>
                <a:ea typeface="SF_HailSnow"/>
              </a:rPr>
              <a:t>거래처관리</a:t>
            </a:r>
          </a:p>
          <a:p>
            <a:pPr lvl="0" algn="ctr">
              <a:lnSpc>
                <a:spcPct val="124499"/>
              </a:lnSpc>
            </a:pPr>
            <a:r>
              <a:rPr lang="ko-KR" sz="2800" b="0" i="0" u="none" strike="noStrike" spc="-100">
                <a:solidFill>
                  <a:srgbClr val="FFFFFF"/>
                </a:solidFill>
                <a:ea typeface="SF_HailSnow"/>
              </a:rPr>
              <a:t>에러코드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7602200" y="-38100"/>
            <a:ext cx="698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283200"/>
            <a:ext cx="520700" cy="520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83200" y="3213100"/>
            <a:ext cx="12128500" cy="3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90700" y="2603500"/>
            <a:ext cx="3619500" cy="1371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alphaModFix amt="10000"/>
          </a:blip>
          <a:stretch>
            <a:fillRect/>
          </a:stretch>
        </p:blipFill>
        <p:spPr>
          <a:xfrm>
            <a:off x="1778000" y="4635500"/>
            <a:ext cx="16078200" cy="4813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90700" y="4635500"/>
            <a:ext cx="16065500" cy="4813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5400000">
            <a:off x="3276600" y="4305300"/>
            <a:ext cx="698500" cy="38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5400000">
            <a:off x="7454900" y="4305300"/>
            <a:ext cx="6985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5400000">
            <a:off x="11658600" y="4305300"/>
            <a:ext cx="6985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81700" y="2603500"/>
            <a:ext cx="3619500" cy="1371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287500" y="2603500"/>
            <a:ext cx="3619500" cy="13716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60000" y="2603500"/>
            <a:ext cx="3619500" cy="1371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5400000">
            <a:off x="15760700" y="4305300"/>
            <a:ext cx="698500" cy="381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95500" y="4889500"/>
            <a:ext cx="15494000" cy="2184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95500" y="7264400"/>
            <a:ext cx="15494000" cy="19050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447800" y="10795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200">
                <a:solidFill>
                  <a:srgbClr val="41C5FF"/>
                </a:solidFill>
                <a:latin typeface="SF_HailSnow"/>
              </a:rPr>
              <a:t>PART 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21200" y="1079500"/>
            <a:ext cx="28575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형상관리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85900" y="2755900"/>
            <a:ext cx="42291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2800" b="0" i="0" u="none" strike="noStrike" spc="-100">
                <a:solidFill>
                  <a:srgbClr val="FFFFFF"/>
                </a:solidFill>
                <a:ea typeface="SF_HailSnow"/>
              </a:rPr>
              <a:t>팀장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201900" y="2971800"/>
            <a:ext cx="17653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3400" b="0" i="0" u="none" strike="noStrike" spc="-200">
                <a:solidFill>
                  <a:srgbClr val="FFFFFF"/>
                </a:solidFill>
                <a:ea typeface="SF_HailSnow"/>
              </a:rPr>
              <a:t>현준수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087100" y="2971800"/>
            <a:ext cx="17653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3400" b="0" i="0" u="none" strike="noStrike" spc="-200">
                <a:solidFill>
                  <a:srgbClr val="FFFFFF"/>
                </a:solidFill>
                <a:ea typeface="SF_HailSnow"/>
              </a:rPr>
              <a:t>맹채윤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908800" y="2971800"/>
            <a:ext cx="17653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3400" b="0" i="0" u="none" strike="noStrike" spc="-200">
                <a:solidFill>
                  <a:srgbClr val="FFFFFF"/>
                </a:solidFill>
                <a:ea typeface="SF_HailSnow"/>
              </a:rPr>
              <a:t>김성령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832100" y="3200400"/>
            <a:ext cx="15367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3400" b="0" i="0" u="none" strike="noStrike" spc="-200">
                <a:solidFill>
                  <a:srgbClr val="FFFFFF"/>
                </a:solidFill>
                <a:ea typeface="SF_HailSnow"/>
              </a:rPr>
              <a:t>박경민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7602200" y="-38100"/>
            <a:ext cx="698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4900" y="6604000"/>
            <a:ext cx="9893300" cy="2794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69600" y="3524250"/>
            <a:ext cx="6794500" cy="27813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447800" y="10795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21200" y="1066800"/>
            <a:ext cx="43561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테스트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케이스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5283200"/>
            <a:ext cx="520700" cy="5207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259300" y="-38100"/>
            <a:ext cx="1206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10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B9785A41-5906-50EF-8146-12B49623EAB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01778" y="3009900"/>
            <a:ext cx="8663022" cy="299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540500"/>
            <a:ext cx="520700" cy="5207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447800" y="10668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21200" y="1066800"/>
            <a:ext cx="43561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중요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기술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설명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5522571" y="6069012"/>
            <a:ext cx="698500" cy="381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4368458" y="6654800"/>
            <a:ext cx="30607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2500" b="0" i="0" u="none" strike="noStrike" spc="-100">
                <a:solidFill>
                  <a:srgbClr val="FFFFFF"/>
                </a:solidFill>
                <a:latin typeface="SF_HailSnow"/>
              </a:rPr>
              <a:t>[</a:t>
            </a:r>
            <a:r>
              <a:rPr lang="ko-KR" sz="2500" b="0" i="0" u="none" strike="noStrike" spc="-100">
                <a:solidFill>
                  <a:srgbClr val="FFFFFF"/>
                </a:solidFill>
                <a:ea typeface="SF_HailSnow"/>
              </a:rPr>
              <a:t>로그인</a:t>
            </a:r>
            <a:r>
              <a:rPr lang="en-US" sz="2500" b="0" i="0" u="none" strike="noStrike" spc="-1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>
                <a:solidFill>
                  <a:srgbClr val="FFFFFF"/>
                </a:solidFill>
                <a:ea typeface="SF_HailSnow"/>
              </a:rPr>
              <a:t>및</a:t>
            </a:r>
            <a:r>
              <a:rPr lang="en-US" sz="2500" b="0" i="0" u="none" strike="noStrike" spc="-1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>
                <a:solidFill>
                  <a:srgbClr val="FFFFFF"/>
                </a:solidFill>
                <a:ea typeface="SF_HailSnow"/>
              </a:rPr>
              <a:t>회원가입</a:t>
            </a:r>
            <a:r>
              <a:rPr lang="en-US" sz="2500" b="0" i="0" u="none" strike="noStrike" spc="-100">
                <a:solidFill>
                  <a:srgbClr val="FFFFFF"/>
                </a:solidFill>
                <a:latin typeface="SF_HailSnow"/>
              </a:rPr>
              <a:t>]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80871" y="3467100"/>
            <a:ext cx="7696200" cy="24638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52358" y="6413500"/>
            <a:ext cx="6680200" cy="21844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3136558" y="7429500"/>
            <a:ext cx="5486400" cy="901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로그인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및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회원가입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시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,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입력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내용을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위의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사진처럼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암호화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기술을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적용하여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 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보안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강화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259300" y="-127000"/>
            <a:ext cx="11684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11</a:t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8EA48CD5-C8F3-735D-E3E4-155F5C2D1D0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34259" y="3285634"/>
            <a:ext cx="7201241" cy="57313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540500"/>
            <a:ext cx="520700" cy="5207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36200" y="3035300"/>
            <a:ext cx="5067300" cy="6172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57600" y="3035300"/>
            <a:ext cx="4673600" cy="61722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447800" y="10668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21200" y="1066800"/>
            <a:ext cx="43561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개발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페이지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259300" y="-38100"/>
            <a:ext cx="1206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540500"/>
            <a:ext cx="520700" cy="5207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74900" y="2882900"/>
            <a:ext cx="9740900" cy="4508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74000" y="7632700"/>
            <a:ext cx="8991600" cy="19177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447800" y="10668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21200" y="1066800"/>
            <a:ext cx="43561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개발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페이지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259300" y="-38100"/>
            <a:ext cx="1206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540500"/>
            <a:ext cx="520700" cy="5207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60700" y="3111500"/>
            <a:ext cx="13335000" cy="59182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447800" y="10668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21200" y="1066800"/>
            <a:ext cx="43561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개발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페이지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259300" y="-38100"/>
            <a:ext cx="1206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540500"/>
            <a:ext cx="520700" cy="5207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55900" y="3086100"/>
            <a:ext cx="13614400" cy="59436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447800" y="10668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21200" y="1066800"/>
            <a:ext cx="43561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개발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페이지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259300" y="-127000"/>
            <a:ext cx="11684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540500"/>
            <a:ext cx="520700" cy="5207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0000" y="3009900"/>
            <a:ext cx="13754100" cy="62738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447800" y="10668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21200" y="1066800"/>
            <a:ext cx="43561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개발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페이지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259300" y="-127000"/>
            <a:ext cx="11684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540500"/>
            <a:ext cx="520700" cy="5207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0000" y="2997200"/>
            <a:ext cx="13893800" cy="6032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447800" y="10668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21200" y="1066800"/>
            <a:ext cx="43561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개발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페이지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259300" y="-38100"/>
            <a:ext cx="1206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540500"/>
            <a:ext cx="520700" cy="5207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33700" y="3048000"/>
            <a:ext cx="13144500" cy="6159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447800" y="10668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21200" y="1066800"/>
            <a:ext cx="43561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개발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페이지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259300" y="-38100"/>
            <a:ext cx="1206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540500"/>
            <a:ext cx="520700" cy="5207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32100" y="3048000"/>
            <a:ext cx="10337800" cy="6159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15800" y="4102100"/>
            <a:ext cx="4876800" cy="53975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447800" y="10668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21200" y="1066800"/>
            <a:ext cx="43561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개발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페이지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259300" y="-127000"/>
            <a:ext cx="11684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540500"/>
            <a:ext cx="520700" cy="5207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0000" y="2921000"/>
            <a:ext cx="10375900" cy="6146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15800" y="3822700"/>
            <a:ext cx="4546600" cy="54991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447800" y="10668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21200" y="1066800"/>
            <a:ext cx="43561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개발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페이지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259300" y="-38100"/>
            <a:ext cx="1206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540500"/>
            <a:ext cx="520700" cy="5207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0" y="2962838"/>
            <a:ext cx="9447632" cy="4485148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447800" y="10668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21200" y="1066800"/>
            <a:ext cx="43561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개발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페이지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259300" y="-38100"/>
            <a:ext cx="1206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21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FF18AEC5-4436-B7F5-2EEC-E8E8611BC71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05444" y="5370512"/>
            <a:ext cx="7353856" cy="381013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540500"/>
            <a:ext cx="520700" cy="5207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00300" y="2882900"/>
            <a:ext cx="10299700" cy="5041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01400" y="4038600"/>
            <a:ext cx="6172200" cy="50165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447800" y="10668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21200" y="1066800"/>
            <a:ext cx="43561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개발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페이지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259300" y="-38100"/>
            <a:ext cx="1206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540500"/>
            <a:ext cx="520700" cy="5207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0" y="2895600"/>
            <a:ext cx="13220700" cy="64516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447800" y="10668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21200" y="1066800"/>
            <a:ext cx="43561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개발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페이지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259300" y="-38100"/>
            <a:ext cx="1206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540500"/>
            <a:ext cx="520700" cy="5207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97200" y="3009900"/>
            <a:ext cx="13462000" cy="6235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447800" y="10668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21200" y="1066800"/>
            <a:ext cx="43561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개발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페이지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259300" y="-38100"/>
            <a:ext cx="1206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540500"/>
            <a:ext cx="520700" cy="5207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22600" y="2921000"/>
            <a:ext cx="13119100" cy="6413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447800" y="10668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21200" y="1066800"/>
            <a:ext cx="43561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개발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페이지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259300" y="-38100"/>
            <a:ext cx="1206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540500"/>
            <a:ext cx="520700" cy="5207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06700" y="3022600"/>
            <a:ext cx="13284200" cy="61976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447800" y="10668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21200" y="1066800"/>
            <a:ext cx="43561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개발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페이지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259300" y="-38100"/>
            <a:ext cx="1206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540500"/>
            <a:ext cx="520700" cy="5207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447800" y="10668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21200" y="1066800"/>
            <a:ext cx="43561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개발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페이지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259300" y="-38100"/>
            <a:ext cx="1206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27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C85EF625-B27A-06CE-11D4-BEC542FE06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6000" y="2971800"/>
            <a:ext cx="14579600" cy="6248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540500"/>
            <a:ext cx="520700" cy="5207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71800" y="2882900"/>
            <a:ext cx="13296900" cy="64008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447800" y="10668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21200" y="1066800"/>
            <a:ext cx="43561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개발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페이지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259300" y="-38100"/>
            <a:ext cx="1206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540500"/>
            <a:ext cx="520700" cy="5207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94000" y="2921000"/>
            <a:ext cx="13677900" cy="64008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447800" y="10668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21200" y="1066800"/>
            <a:ext cx="43561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개발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페이지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259300" y="-38100"/>
            <a:ext cx="1206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540500"/>
            <a:ext cx="520700" cy="5207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36800" y="2870200"/>
            <a:ext cx="8140700" cy="3924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01100" y="5143500"/>
            <a:ext cx="8204200" cy="4241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447800" y="10668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21200" y="1066800"/>
            <a:ext cx="43561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개발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페이지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259300" y="-38100"/>
            <a:ext cx="1206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540500"/>
            <a:ext cx="520700" cy="5207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0000" y="3048000"/>
            <a:ext cx="13766800" cy="59182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447800" y="10668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21200" y="1066800"/>
            <a:ext cx="43561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개발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페이지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259300" y="-38100"/>
            <a:ext cx="1206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7747000"/>
            <a:ext cx="520700" cy="520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2197100" y="2946400"/>
            <a:ext cx="1193800" cy="990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000500" y="3302000"/>
            <a:ext cx="254000" cy="254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483100" y="3302000"/>
            <a:ext cx="254000" cy="2540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108200" y="4178300"/>
            <a:ext cx="1993900" cy="153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600" b="0" i="0" u="none" strike="noStrike" spc="-200">
                <a:solidFill>
                  <a:srgbClr val="41C5FF">
                    <a:alpha val="34118"/>
                  </a:srgbClr>
                </a:solidFill>
                <a:latin typeface="SF_HailSnow"/>
              </a:rPr>
              <a:t>[     ]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37100" y="7404100"/>
            <a:ext cx="1308100" cy="280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700" b="0" i="0" u="none" strike="noStrike" spc="-400">
                <a:solidFill>
                  <a:srgbClr val="FF630E">
                    <a:alpha val="34118"/>
                  </a:srgbClr>
                </a:solidFill>
                <a:latin typeface="SF_HailSnow"/>
              </a:rPr>
              <a:t>*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447800" y="10668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21200" y="1066800"/>
            <a:ext cx="43561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개발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페이지</a:t>
            </a:r>
            <a:r>
              <a:rPr lang="en-US" sz="48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시연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51200" y="3975100"/>
            <a:ext cx="13182600" cy="42799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15100" y="5092700"/>
            <a:ext cx="6400800" cy="170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sz="9600" b="0" i="0" u="none" strike="noStrike" spc="-500">
                <a:solidFill>
                  <a:srgbClr val="FFFFFF"/>
                </a:solidFill>
                <a:ea typeface="SF_HailSnow"/>
              </a:rPr>
              <a:t>시</a:t>
            </a:r>
            <a:r>
              <a:rPr lang="en-US" sz="9600" b="0" i="0" u="none" strike="noStrike" spc="-5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9600" b="0" i="0" u="none" strike="noStrike" spc="-500">
                <a:solidFill>
                  <a:srgbClr val="FFFFFF"/>
                </a:solidFill>
                <a:ea typeface="SF_HailSnow"/>
              </a:rPr>
              <a:t>연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12">
            <a:alphaModFix amt="20000"/>
          </a:blip>
          <a:stretch>
            <a:fillRect/>
          </a:stretch>
        </p:blipFill>
        <p:spPr>
          <a:xfrm>
            <a:off x="16573500" y="5651500"/>
            <a:ext cx="5130800" cy="1905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2">
            <a:alphaModFix amt="20000"/>
          </a:blip>
          <a:stretch>
            <a:fillRect/>
          </a:stretch>
        </p:blipFill>
        <p:spPr>
          <a:xfrm>
            <a:off x="16573500" y="6388100"/>
            <a:ext cx="5130800" cy="1905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2">
            <a:alphaModFix amt="20000"/>
          </a:blip>
          <a:stretch>
            <a:fillRect/>
          </a:stretch>
        </p:blipFill>
        <p:spPr>
          <a:xfrm>
            <a:off x="16573500" y="7124700"/>
            <a:ext cx="5130800" cy="1905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3">
            <a:alphaModFix amt="15000"/>
          </a:blip>
          <a:stretch>
            <a:fillRect/>
          </a:stretch>
        </p:blipFill>
        <p:spPr>
          <a:xfrm rot="-3180000">
            <a:off x="11328400" y="8623300"/>
            <a:ext cx="2476500" cy="2070100"/>
          </a:xfrm>
          <a:prstGeom prst="rect">
            <a:avLst/>
          </a:prstGeom>
        </p:spPr>
      </p:pic>
      <p:sp>
        <p:nvSpPr>
          <p:cNvPr id="33" name="TextBox 33"/>
          <p:cNvSpPr txBox="1"/>
          <p:nvPr/>
        </p:nvSpPr>
        <p:spPr>
          <a:xfrm>
            <a:off x="11391900" y="2311400"/>
            <a:ext cx="622300" cy="1968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1000" b="0" i="0" u="none" strike="noStrike" spc="-300">
                <a:solidFill>
                  <a:srgbClr val="DC56A9">
                    <a:alpha val="29020"/>
                  </a:srgbClr>
                </a:solidFill>
                <a:latin typeface="SF_HailSnow"/>
              </a:rPr>
              <a:t>{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992600" y="-1054100"/>
            <a:ext cx="1511300" cy="478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6900" b="0" i="0" u="none" strike="noStrike" spc="-700">
                <a:solidFill>
                  <a:srgbClr val="DC56A9">
                    <a:alpha val="20000"/>
                  </a:srgbClr>
                </a:solidFill>
                <a:latin typeface="SF_HailSnow"/>
              </a:rPr>
              <a:t>{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757400" y="2324100"/>
            <a:ext cx="2489200" cy="534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900" b="0" i="0" u="none" strike="noStrike" spc="-800">
                <a:solidFill>
                  <a:srgbClr val="FF630E">
                    <a:alpha val="20000"/>
                  </a:srgbClr>
                </a:solidFill>
                <a:latin typeface="SF_HailSnow"/>
              </a:rPr>
              <a:t>*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7259300" y="-38100"/>
            <a:ext cx="1206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7747000"/>
            <a:ext cx="520700" cy="520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6743700" y="2540000"/>
            <a:ext cx="1193800" cy="990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841500" y="8420100"/>
            <a:ext cx="1993900" cy="153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600" b="0" i="0" u="none" strike="noStrike" spc="-200">
                <a:solidFill>
                  <a:srgbClr val="41C5FF">
                    <a:alpha val="34118"/>
                  </a:srgbClr>
                </a:solidFill>
                <a:latin typeface="SF_HailSnow"/>
              </a:rPr>
              <a:t>[     ]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37100" y="7404100"/>
            <a:ext cx="1308100" cy="280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700" b="0" i="0" u="none" strike="noStrike" spc="-400">
                <a:solidFill>
                  <a:srgbClr val="FF630E">
                    <a:alpha val="34118"/>
                  </a:srgbClr>
                </a:solidFill>
                <a:latin typeface="SF_HailSnow"/>
              </a:rPr>
              <a:t>*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447800" y="10668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21200" y="1066800"/>
            <a:ext cx="43561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후기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>
            <a:off x="16573500" y="5651500"/>
            <a:ext cx="5130800" cy="1905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>
            <a:off x="16573500" y="6388100"/>
            <a:ext cx="5130800" cy="1905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>
            <a:off x="16573500" y="7124700"/>
            <a:ext cx="5130800" cy="1905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2">
            <a:alphaModFix amt="15000"/>
          </a:blip>
          <a:stretch>
            <a:fillRect/>
          </a:stretch>
        </p:blipFill>
        <p:spPr>
          <a:xfrm rot="-3180000">
            <a:off x="11328400" y="8623300"/>
            <a:ext cx="2476500" cy="20701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08200" y="3454400"/>
            <a:ext cx="15316200" cy="54229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11391900" y="2311400"/>
            <a:ext cx="622300" cy="1968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1000" b="0" i="0" u="none" strike="noStrike" spc="-300">
                <a:solidFill>
                  <a:srgbClr val="DC56A9">
                    <a:alpha val="29020"/>
                  </a:srgbClr>
                </a:solidFill>
                <a:latin typeface="SF_HailSnow"/>
              </a:rPr>
              <a:t>{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992600" y="-1054100"/>
            <a:ext cx="1511300" cy="478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6900" b="0" i="0" u="none" strike="noStrike" spc="-700">
                <a:solidFill>
                  <a:srgbClr val="DC56A9">
                    <a:alpha val="20000"/>
                  </a:srgbClr>
                </a:solidFill>
                <a:latin typeface="SF_HailSnow"/>
              </a:rPr>
              <a:t>{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757400" y="2324100"/>
            <a:ext cx="2489200" cy="534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900" b="0" i="0" u="none" strike="noStrike" spc="-800">
                <a:solidFill>
                  <a:srgbClr val="FF630E">
                    <a:alpha val="20000"/>
                  </a:srgbClr>
                </a:solidFill>
                <a:latin typeface="SF_HailSnow"/>
              </a:rPr>
              <a:t>*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7259300" y="-38100"/>
            <a:ext cx="1206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33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816100" y="2641600"/>
            <a:ext cx="22860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4100" b="0" i="0" u="none" strike="noStrike" spc="-200">
                <a:solidFill>
                  <a:srgbClr val="FFFFFF"/>
                </a:solidFill>
                <a:latin typeface="SF_HailSnow"/>
              </a:rPr>
              <a:t>[ </a:t>
            </a:r>
            <a:r>
              <a:rPr lang="ko-KR" sz="4100" b="0" i="0" u="none" strike="noStrike" spc="-200">
                <a:solidFill>
                  <a:srgbClr val="FFFFFF"/>
                </a:solidFill>
                <a:ea typeface="SF_HailSnow"/>
              </a:rPr>
              <a:t>박경민</a:t>
            </a:r>
            <a:r>
              <a:rPr lang="en-US" sz="4100" b="0" i="0" u="none" strike="noStrike" spc="-200">
                <a:solidFill>
                  <a:srgbClr val="FFFFFF"/>
                </a:solidFill>
                <a:latin typeface="SF_HailSnow"/>
              </a:rPr>
              <a:t> ]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438400" y="3771900"/>
            <a:ext cx="14668500" cy="4813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just">
              <a:lnSpc>
                <a:spcPct val="124499"/>
              </a:lnSpc>
            </a:pP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1, 2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프로젝트에서는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 err="1">
                <a:solidFill>
                  <a:srgbClr val="FFFFFF"/>
                </a:solidFill>
                <a:ea typeface="SF_HailSnow"/>
              </a:rPr>
              <a:t>프론트엔드와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 err="1">
                <a:solidFill>
                  <a:srgbClr val="FFFFFF"/>
                </a:solidFill>
                <a:ea typeface="SF_HailSnow"/>
              </a:rPr>
              <a:t>백엔드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모두를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경험했습니다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.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특히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1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프로젝트를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진행하면서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사용자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중심의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UI/UX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를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구성하는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데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어려움이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있었지만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,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이를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통해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사용자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경험을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고려한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웹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페이지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설계에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대한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이해를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할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수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있었습니다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.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이어서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, 2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프로젝트를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진행하면서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 err="1">
                <a:solidFill>
                  <a:srgbClr val="FFFFFF"/>
                </a:solidFill>
                <a:ea typeface="SF_HailSnow"/>
              </a:rPr>
              <a:t>서블릿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구조를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통해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 err="1">
                <a:solidFill>
                  <a:srgbClr val="FFFFFF"/>
                </a:solidFill>
                <a:ea typeface="SF_HailSnow"/>
              </a:rPr>
              <a:t>백엔드와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데이터베이스를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연동하면서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자바와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데이터베이스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간의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상호작용에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대한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흐름을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이해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할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수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있었습니다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.</a:t>
            </a:r>
          </a:p>
          <a:p>
            <a:pPr lvl="0" algn="just">
              <a:lnSpc>
                <a:spcPct val="124499"/>
              </a:lnSpc>
            </a:pPr>
            <a:endParaRPr lang="en-US" sz="2500" b="0" i="0" u="none" strike="noStrike" spc="-100" dirty="0">
              <a:solidFill>
                <a:srgbClr val="FFFFFF"/>
              </a:solidFill>
              <a:latin typeface="SF_HailSnow"/>
            </a:endParaRPr>
          </a:p>
          <a:p>
            <a:pPr lvl="0" algn="just">
              <a:lnSpc>
                <a:spcPct val="124499"/>
              </a:lnSpc>
            </a:pP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이번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프로젝트를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통해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기존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 err="1">
                <a:solidFill>
                  <a:srgbClr val="FFFFFF"/>
                </a:solidFill>
                <a:ea typeface="SF_HailSnow"/>
              </a:rPr>
              <a:t>서블릿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구조에서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스프링으로의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전환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과정을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반복하면서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스프링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구조에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대한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이해도가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크게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늘어나게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되었습니다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. 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특히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,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로그인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및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회원가입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기능에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암호화를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적용하는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과정에서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라이브러리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적용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방법을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배우고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,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단방향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암호화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방식에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대해서도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이해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할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수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있었습니다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.</a:t>
            </a:r>
          </a:p>
          <a:p>
            <a:pPr lvl="0" algn="just">
              <a:lnSpc>
                <a:spcPct val="124499"/>
              </a:lnSpc>
            </a:pPr>
            <a:endParaRPr lang="en-US" sz="2500" b="0" i="0" u="none" strike="noStrike" spc="-100" dirty="0">
              <a:solidFill>
                <a:srgbClr val="FFFFFF"/>
              </a:solidFill>
              <a:latin typeface="SF_HailSnow"/>
            </a:endParaRPr>
          </a:p>
          <a:p>
            <a:pPr lvl="0" algn="just">
              <a:lnSpc>
                <a:spcPct val="124499"/>
              </a:lnSpc>
            </a:pPr>
            <a:r>
              <a:rPr lang="ko-KR" sz="2500" b="0" i="0" u="none" strike="noStrike" spc="-100" dirty="0" err="1">
                <a:solidFill>
                  <a:srgbClr val="FFFFFF"/>
                </a:solidFill>
                <a:ea typeface="SF_HailSnow"/>
              </a:rPr>
              <a:t>페이지간의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데이터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들의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주고받고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그리고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이동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과정에서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데이터베이스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구조에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따라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편리하게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전달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되는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과정들을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보면서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구조에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대한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중요성도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느끼게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되었습니다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7747000"/>
            <a:ext cx="520700" cy="520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6743700" y="2540000"/>
            <a:ext cx="1193800" cy="990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841500" y="8420100"/>
            <a:ext cx="1993900" cy="153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600" b="0" i="0" u="none" strike="noStrike" spc="-200">
                <a:solidFill>
                  <a:srgbClr val="41C5FF">
                    <a:alpha val="34118"/>
                  </a:srgbClr>
                </a:solidFill>
                <a:latin typeface="SF_HailSnow"/>
              </a:rPr>
              <a:t>[     ]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37100" y="7404100"/>
            <a:ext cx="1308100" cy="280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700" b="0" i="0" u="none" strike="noStrike" spc="-400">
                <a:solidFill>
                  <a:srgbClr val="FF630E">
                    <a:alpha val="34118"/>
                  </a:srgbClr>
                </a:solidFill>
                <a:latin typeface="SF_HailSnow"/>
              </a:rPr>
              <a:t>*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447800" y="10668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21200" y="1066800"/>
            <a:ext cx="43561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후기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08200" y="3454400"/>
            <a:ext cx="15316200" cy="54229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12">
            <a:alphaModFix amt="20000"/>
          </a:blip>
          <a:stretch>
            <a:fillRect/>
          </a:stretch>
        </p:blipFill>
        <p:spPr>
          <a:xfrm>
            <a:off x="16573500" y="5651500"/>
            <a:ext cx="5130800" cy="1905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2">
            <a:alphaModFix amt="20000"/>
          </a:blip>
          <a:stretch>
            <a:fillRect/>
          </a:stretch>
        </p:blipFill>
        <p:spPr>
          <a:xfrm>
            <a:off x="16573500" y="6388100"/>
            <a:ext cx="5130800" cy="1905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2">
            <a:alphaModFix amt="20000"/>
          </a:blip>
          <a:stretch>
            <a:fillRect/>
          </a:stretch>
        </p:blipFill>
        <p:spPr>
          <a:xfrm>
            <a:off x="16573500" y="7124700"/>
            <a:ext cx="5130800" cy="1905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3">
            <a:alphaModFix amt="15000"/>
          </a:blip>
          <a:stretch>
            <a:fillRect/>
          </a:stretch>
        </p:blipFill>
        <p:spPr>
          <a:xfrm rot="-3180000">
            <a:off x="11328400" y="8623300"/>
            <a:ext cx="2476500" cy="20701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11391900" y="2311400"/>
            <a:ext cx="622300" cy="1968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1000" b="0" i="0" u="none" strike="noStrike" spc="-300">
                <a:solidFill>
                  <a:srgbClr val="DC56A9">
                    <a:alpha val="29020"/>
                  </a:srgbClr>
                </a:solidFill>
                <a:latin typeface="SF_HailSnow"/>
              </a:rPr>
              <a:t>{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992600" y="-1054100"/>
            <a:ext cx="1511300" cy="478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6900" b="0" i="0" u="none" strike="noStrike" spc="-700">
                <a:solidFill>
                  <a:srgbClr val="DC56A9">
                    <a:alpha val="20000"/>
                  </a:srgbClr>
                </a:solidFill>
                <a:latin typeface="SF_HailSnow"/>
              </a:rPr>
              <a:t>{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757400" y="2324100"/>
            <a:ext cx="2489200" cy="534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900" b="0" i="0" u="none" strike="noStrike" spc="-800">
                <a:solidFill>
                  <a:srgbClr val="FF630E">
                    <a:alpha val="20000"/>
                  </a:srgbClr>
                </a:solidFill>
                <a:latin typeface="SF_HailSnow"/>
              </a:rPr>
              <a:t>*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7259300" y="-38100"/>
            <a:ext cx="1206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34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470150" y="3810000"/>
            <a:ext cx="14668500" cy="4813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just">
              <a:lnSpc>
                <a:spcPct val="124499"/>
              </a:lnSpc>
            </a:pP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이번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프로젝트에서는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2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프로젝트에서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 err="1">
                <a:solidFill>
                  <a:srgbClr val="FFFFFF"/>
                </a:solidFill>
                <a:ea typeface="SF_HailSnow"/>
              </a:rPr>
              <a:t>서블릿을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사용했을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때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보다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스프링을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사용했을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때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더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간단하고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쉽다고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느껴졌습니다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.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수업을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들었을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때보다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직접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페이지를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만들고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사용해보면서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전체적인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흐름과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이해도가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높아졌기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때문에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재미있었습니다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. 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특히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기준관리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중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BOM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레시피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관리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페이지를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만들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때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select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목록에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en-US" sz="2500" b="0" i="0" u="none" strike="noStrike" spc="-100" dirty="0" err="1">
                <a:solidFill>
                  <a:srgbClr val="FFFFFF"/>
                </a:solidFill>
                <a:latin typeface="SF_HailSnow"/>
              </a:rPr>
              <a:t>bom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id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를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 err="1">
                <a:solidFill>
                  <a:srgbClr val="FFFFFF"/>
                </a:solidFill>
                <a:ea typeface="SF_HailSnow"/>
              </a:rPr>
              <a:t>중복없이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어떻게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보여줄까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고민하였는데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,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오라클에서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배웠던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group by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를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사용하니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원했던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대로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전체목록조회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, </a:t>
            </a:r>
            <a:r>
              <a:rPr lang="en-US" sz="2500" b="0" i="0" u="none" strike="noStrike" spc="-100" dirty="0" err="1">
                <a:solidFill>
                  <a:srgbClr val="FFFFFF"/>
                </a:solidFill>
                <a:latin typeface="SF_HailSnow"/>
              </a:rPr>
              <a:t>bom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id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별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조회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가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가능해져서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큰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뿌듯함을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느꼈습니다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.</a:t>
            </a:r>
          </a:p>
          <a:p>
            <a:pPr lvl="0" algn="just">
              <a:lnSpc>
                <a:spcPct val="124499"/>
              </a:lnSpc>
            </a:pPr>
            <a:endParaRPr lang="en-US" sz="2500" b="0" i="0" u="none" strike="noStrike" spc="-100" dirty="0">
              <a:solidFill>
                <a:srgbClr val="FFFFFF"/>
              </a:solidFill>
              <a:latin typeface="SF_HailSnow"/>
            </a:endParaRPr>
          </a:p>
          <a:p>
            <a:pPr lvl="0" algn="just">
              <a:lnSpc>
                <a:spcPct val="124499"/>
              </a:lnSpc>
            </a:pP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6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개월간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 err="1">
                <a:solidFill>
                  <a:srgbClr val="FFFFFF"/>
                </a:solidFill>
                <a:ea typeface="SF_HailSnow"/>
              </a:rPr>
              <a:t>풀스택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개발과정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수업을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들으며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진도를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잘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따라가지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못할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때마다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뒤쳐져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있다는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생각이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들어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 err="1">
                <a:solidFill>
                  <a:srgbClr val="FFFFFF"/>
                </a:solidFill>
                <a:ea typeface="SF_HailSnow"/>
              </a:rPr>
              <a:t>포기해야하나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고민했던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적이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있었습니다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.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하지만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방과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후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 err="1">
                <a:solidFill>
                  <a:srgbClr val="FFFFFF"/>
                </a:solidFill>
                <a:ea typeface="SF_HailSnow"/>
              </a:rPr>
              <a:t>심화반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복습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 err="1">
                <a:solidFill>
                  <a:srgbClr val="FFFFFF"/>
                </a:solidFill>
                <a:ea typeface="SF_HailSnow"/>
              </a:rPr>
              <a:t>수업덕분에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진도를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따라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잡는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것은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물론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자신감을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되찾을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수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있었습니다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.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무엇보다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함께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공부하고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의지할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수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있는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동기들이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있었기에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프로젝트도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잘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끝내고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중도포기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없이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무사히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수료할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수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500" b="0" i="0" u="none" strike="noStrike" spc="-100" dirty="0">
                <a:solidFill>
                  <a:srgbClr val="FFFFFF"/>
                </a:solidFill>
                <a:ea typeface="SF_HailSnow"/>
              </a:rPr>
              <a:t>있었습니다</a:t>
            </a:r>
            <a:r>
              <a:rPr lang="en-US" sz="2500" b="0" i="0" u="none" strike="noStrike" spc="-100" dirty="0">
                <a:solidFill>
                  <a:srgbClr val="FFFFFF"/>
                </a:solidFill>
                <a:latin typeface="SF_HailSnow"/>
              </a:rPr>
              <a:t>. 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16100" y="2641600"/>
            <a:ext cx="22860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4100" b="0" i="0" u="none" strike="noStrike" spc="-200">
                <a:solidFill>
                  <a:srgbClr val="FFFFFF"/>
                </a:solidFill>
                <a:latin typeface="SF_HailSnow"/>
              </a:rPr>
              <a:t>[ </a:t>
            </a:r>
            <a:r>
              <a:rPr lang="ko-KR" sz="4100" b="0" i="0" u="none" strike="noStrike" spc="-200">
                <a:solidFill>
                  <a:srgbClr val="FFFFFF"/>
                </a:solidFill>
                <a:ea typeface="SF_HailSnow"/>
              </a:rPr>
              <a:t>김성령</a:t>
            </a:r>
            <a:r>
              <a:rPr lang="en-US" sz="4100" b="0" i="0" u="none" strike="noStrike" spc="-200">
                <a:solidFill>
                  <a:srgbClr val="FFFFFF"/>
                </a:solidFill>
                <a:latin typeface="SF_HailSnow"/>
              </a:rPr>
              <a:t> ]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7747000"/>
            <a:ext cx="520700" cy="520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6743700" y="2540000"/>
            <a:ext cx="1193800" cy="990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841500" y="8420100"/>
            <a:ext cx="1993900" cy="153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600" b="0" i="0" u="none" strike="noStrike" spc="-200">
                <a:solidFill>
                  <a:srgbClr val="41C5FF">
                    <a:alpha val="34118"/>
                  </a:srgbClr>
                </a:solidFill>
                <a:latin typeface="SF_HailSnow"/>
              </a:rPr>
              <a:t>[     ]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37100" y="7404100"/>
            <a:ext cx="1308100" cy="280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700" b="0" i="0" u="none" strike="noStrike" spc="-400">
                <a:solidFill>
                  <a:srgbClr val="FF630E">
                    <a:alpha val="34118"/>
                  </a:srgbClr>
                </a:solidFill>
                <a:latin typeface="SF_HailSnow"/>
              </a:rPr>
              <a:t>*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447800" y="10668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21200" y="1066800"/>
            <a:ext cx="43561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후기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>
            <a:off x="16573500" y="5651500"/>
            <a:ext cx="5130800" cy="1905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>
            <a:off x="16573500" y="6388100"/>
            <a:ext cx="5130800" cy="1905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>
            <a:off x="16573500" y="7124700"/>
            <a:ext cx="5130800" cy="1905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2">
            <a:alphaModFix amt="15000"/>
          </a:blip>
          <a:stretch>
            <a:fillRect/>
          </a:stretch>
        </p:blipFill>
        <p:spPr>
          <a:xfrm rot="-3180000">
            <a:off x="11328400" y="8623300"/>
            <a:ext cx="2476500" cy="20701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08200" y="3454400"/>
            <a:ext cx="15316200" cy="54229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11391900" y="2311400"/>
            <a:ext cx="622300" cy="1968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1000" b="0" i="0" u="none" strike="noStrike" spc="-300">
                <a:solidFill>
                  <a:srgbClr val="DC56A9">
                    <a:alpha val="29020"/>
                  </a:srgbClr>
                </a:solidFill>
                <a:latin typeface="SF_HailSnow"/>
              </a:rPr>
              <a:t>{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992600" y="-1054100"/>
            <a:ext cx="1511300" cy="478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6900" b="0" i="0" u="none" strike="noStrike" spc="-700">
                <a:solidFill>
                  <a:srgbClr val="DC56A9">
                    <a:alpha val="20000"/>
                  </a:srgbClr>
                </a:solidFill>
                <a:latin typeface="SF_HailSnow"/>
              </a:rPr>
              <a:t>{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757400" y="2324100"/>
            <a:ext cx="2489200" cy="534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900" b="0" i="0" u="none" strike="noStrike" spc="-800">
                <a:solidFill>
                  <a:srgbClr val="FF630E">
                    <a:alpha val="20000"/>
                  </a:srgbClr>
                </a:solidFill>
                <a:latin typeface="SF_HailSnow"/>
              </a:rPr>
              <a:t>*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7259300" y="-38100"/>
            <a:ext cx="1206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35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565400" y="4038600"/>
            <a:ext cx="14414500" cy="415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just">
              <a:lnSpc>
                <a:spcPct val="124499"/>
              </a:lnSpc>
            </a:pP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프로젝트를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진행하면서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프론트와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 err="1">
                <a:solidFill>
                  <a:srgbClr val="FFFFFF"/>
                </a:solidFill>
                <a:ea typeface="SF_HailSnow"/>
              </a:rPr>
              <a:t>백엔드의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다양한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매력을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느낄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수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있었습니다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. Spring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으로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변환하는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과정에서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CRUD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를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적용할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때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, </a:t>
            </a:r>
            <a:r>
              <a:rPr lang="ko-KR" sz="3100" b="0" i="0" u="none" strike="noStrike" spc="-200" dirty="0" err="1">
                <a:solidFill>
                  <a:srgbClr val="FFFFFF"/>
                </a:solidFill>
                <a:ea typeface="SF_HailSnow"/>
              </a:rPr>
              <a:t>어노테이션을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빼먹는다는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등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,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또는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JSP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에서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return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값을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잘못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적는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다는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등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다양한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실수들이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발생하였지만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,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실수를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통해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많은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에러를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접할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수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있었고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에러에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대한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두려움이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많이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없어졌습니다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.</a:t>
            </a:r>
          </a:p>
          <a:p>
            <a:pPr lvl="0" algn="just">
              <a:lnSpc>
                <a:spcPct val="124499"/>
              </a:lnSpc>
            </a:pPr>
            <a:endParaRPr lang="en-US" sz="3100" b="0" i="0" u="none" strike="noStrike" spc="-200" dirty="0">
              <a:solidFill>
                <a:srgbClr val="FFFFFF"/>
              </a:solidFill>
              <a:latin typeface="SF_HailSnow"/>
            </a:endParaRPr>
          </a:p>
          <a:p>
            <a:pPr lvl="0" algn="just">
              <a:lnSpc>
                <a:spcPct val="124499"/>
              </a:lnSpc>
            </a:pP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6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개월동안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1,2,3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프로젝트를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진행한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경험을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바탕으로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해당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기술을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온전히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나의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것으로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만들어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실무에서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적용할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수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있도록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 err="1">
                <a:solidFill>
                  <a:srgbClr val="FFFFFF"/>
                </a:solidFill>
                <a:ea typeface="SF_HailSnow"/>
              </a:rPr>
              <a:t>노력해야겠다고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3100" b="0" i="0" u="none" strike="noStrike" spc="-200" dirty="0">
                <a:solidFill>
                  <a:srgbClr val="FFFFFF"/>
                </a:solidFill>
                <a:ea typeface="SF_HailSnow"/>
              </a:rPr>
              <a:t>다짐하였습니다</a:t>
            </a:r>
            <a:r>
              <a:rPr lang="en-US" sz="3100" b="0" i="0" u="none" strike="noStrike" spc="-200" dirty="0">
                <a:solidFill>
                  <a:srgbClr val="FFFFFF"/>
                </a:solidFill>
                <a:latin typeface="SF_HailSnow"/>
              </a:rPr>
              <a:t>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993900" y="2641600"/>
            <a:ext cx="22860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4100" b="0" i="0" u="none" strike="noStrike" spc="-200">
                <a:solidFill>
                  <a:srgbClr val="FFFFFF"/>
                </a:solidFill>
                <a:latin typeface="SF_HailSnow"/>
              </a:rPr>
              <a:t>[ </a:t>
            </a:r>
            <a:r>
              <a:rPr lang="ko-KR" sz="4100" b="0" i="0" u="none" strike="noStrike" spc="-200">
                <a:solidFill>
                  <a:srgbClr val="FFFFFF"/>
                </a:solidFill>
                <a:ea typeface="SF_HailSnow"/>
              </a:rPr>
              <a:t>맹채윤</a:t>
            </a:r>
            <a:r>
              <a:rPr lang="en-US" sz="4100" b="0" i="0" u="none" strike="noStrike" spc="-200">
                <a:solidFill>
                  <a:srgbClr val="FFFFFF"/>
                </a:solidFill>
                <a:latin typeface="SF_HailSnow"/>
              </a:rPr>
              <a:t> ]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7747000"/>
            <a:ext cx="520700" cy="520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6743700" y="2540000"/>
            <a:ext cx="1193800" cy="990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841500" y="8420100"/>
            <a:ext cx="1993900" cy="153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600" b="0" i="0" u="none" strike="noStrike" spc="-200">
                <a:solidFill>
                  <a:srgbClr val="41C5FF">
                    <a:alpha val="34118"/>
                  </a:srgbClr>
                </a:solidFill>
                <a:latin typeface="SF_HailSnow"/>
              </a:rPr>
              <a:t>[     ]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37100" y="7404100"/>
            <a:ext cx="1308100" cy="280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700" b="0" i="0" u="none" strike="noStrike" spc="-400">
                <a:solidFill>
                  <a:srgbClr val="FF630E">
                    <a:alpha val="34118"/>
                  </a:srgbClr>
                </a:solidFill>
                <a:latin typeface="SF_HailSnow"/>
              </a:rPr>
              <a:t>*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500" b="0" i="0" u="none" strike="noStrike">
                <a:solidFill>
                  <a:srgbClr val="41C5FF"/>
                </a:solidFill>
                <a:latin typeface="SF_HailSnow"/>
              </a:rPr>
              <a:t>*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00" y="889000"/>
            <a:ext cx="3136900" cy="119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100" y="889000"/>
            <a:ext cx="12827000" cy="1193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31600" y="1358900"/>
            <a:ext cx="254000" cy="25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88800" y="1358900"/>
            <a:ext cx="254000" cy="254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46000" y="1358900"/>
            <a:ext cx="254000" cy="254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03200" y="1358900"/>
            <a:ext cx="254000" cy="254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447800" y="1066800"/>
            <a:ext cx="22860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spc="-100">
                <a:solidFill>
                  <a:srgbClr val="41C5FF"/>
                </a:solidFill>
                <a:latin typeface="SF_HailSnow"/>
              </a:rPr>
              <a:t>PART 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21200" y="1066800"/>
            <a:ext cx="43561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800" b="0" i="0" u="none" strike="noStrike">
                <a:solidFill>
                  <a:srgbClr val="FFFFFF"/>
                </a:solidFill>
                <a:ea typeface="SF_HailSnow"/>
              </a:rPr>
              <a:t>후기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808200" y="1333500"/>
            <a:ext cx="20574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>
            <a:off x="16573500" y="5651500"/>
            <a:ext cx="5130800" cy="1905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>
            <a:off x="16573500" y="6388100"/>
            <a:ext cx="5130800" cy="1905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>
            <a:off x="16573500" y="7124700"/>
            <a:ext cx="5130800" cy="1905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2">
            <a:alphaModFix amt="15000"/>
          </a:blip>
          <a:stretch>
            <a:fillRect/>
          </a:stretch>
        </p:blipFill>
        <p:spPr>
          <a:xfrm rot="-3180000">
            <a:off x="11328400" y="8623300"/>
            <a:ext cx="2476500" cy="20701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08200" y="3454400"/>
            <a:ext cx="15316200" cy="54229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11391900" y="2311400"/>
            <a:ext cx="622300" cy="1968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1000" b="0" i="0" u="none" strike="noStrike" spc="-300">
                <a:solidFill>
                  <a:srgbClr val="DC56A9">
                    <a:alpha val="29020"/>
                  </a:srgbClr>
                </a:solidFill>
                <a:latin typeface="SF_HailSnow"/>
              </a:rPr>
              <a:t>{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992600" y="-1054100"/>
            <a:ext cx="1511300" cy="478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6900" b="0" i="0" u="none" strike="noStrike" spc="-700">
                <a:solidFill>
                  <a:srgbClr val="DC56A9">
                    <a:alpha val="20000"/>
                  </a:srgbClr>
                </a:solidFill>
                <a:latin typeface="SF_HailSnow"/>
              </a:rPr>
              <a:t>{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757400" y="2324100"/>
            <a:ext cx="2489200" cy="534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900" b="0" i="0" u="none" strike="noStrike" spc="-800">
                <a:solidFill>
                  <a:srgbClr val="FF630E">
                    <a:alpha val="20000"/>
                  </a:srgbClr>
                </a:solidFill>
                <a:latin typeface="SF_HailSnow"/>
              </a:rPr>
              <a:t>*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7259300" y="-38100"/>
            <a:ext cx="1206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36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816100" y="2641600"/>
            <a:ext cx="22860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4100" b="0" i="0" u="none" strike="noStrike" spc="-200">
                <a:solidFill>
                  <a:srgbClr val="FFFFFF"/>
                </a:solidFill>
                <a:latin typeface="SF_HailSnow"/>
              </a:rPr>
              <a:t>[ </a:t>
            </a:r>
            <a:r>
              <a:rPr lang="ko-KR" sz="4100" b="0" i="0" u="none" strike="noStrike" spc="-200">
                <a:solidFill>
                  <a:srgbClr val="FFFFFF"/>
                </a:solidFill>
                <a:ea typeface="SF_HailSnow"/>
              </a:rPr>
              <a:t>현준수</a:t>
            </a:r>
            <a:r>
              <a:rPr lang="en-US" sz="4100" b="0" i="0" u="none" strike="noStrike" spc="-200">
                <a:solidFill>
                  <a:srgbClr val="FFFFFF"/>
                </a:solidFill>
                <a:latin typeface="SF_HailSnow"/>
              </a:rPr>
              <a:t> ]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565400" y="3695700"/>
            <a:ext cx="14401800" cy="483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just">
              <a:lnSpc>
                <a:spcPct val="124499"/>
              </a:lnSpc>
            </a:pP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사실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1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차와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2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프로젝트에서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많은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어려움과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스트레스를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겪었습니다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.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그러나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프로젝트에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들어서면서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각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코드의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역할과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흐름을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이해하게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되었고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,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그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과정에서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점점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재미를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느끼게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되었습니다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.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처음에는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파일을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왜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나누어야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하고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,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왜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이렇게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복잡하게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해야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하는지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궁금했습니다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.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하지만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지속적인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공부와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집중을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통해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, 6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개월의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힘든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과정을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끝내고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나니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Spring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프레임워크가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왜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이렇게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편리한지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점차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알게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되었습니다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.</a:t>
            </a:r>
          </a:p>
          <a:p>
            <a:pPr lvl="0" algn="just">
              <a:lnSpc>
                <a:spcPct val="124499"/>
              </a:lnSpc>
            </a:pPr>
            <a:endParaRPr lang="en-US" sz="2800" b="0" i="0" u="none" strike="noStrike" spc="-200" dirty="0">
              <a:solidFill>
                <a:srgbClr val="FFFFFF"/>
              </a:solidFill>
              <a:latin typeface="SF_HailSnow"/>
            </a:endParaRPr>
          </a:p>
          <a:p>
            <a:pPr lvl="0" algn="just">
              <a:lnSpc>
                <a:spcPct val="124499"/>
              </a:lnSpc>
            </a:pP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무언가를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배우는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과정은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힘든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부분도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있었지만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,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함께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머리를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맞대고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프로젝트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하나를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완성한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후에는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언어를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배우거나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새로운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프로젝트에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도전하고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싶다는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욕구가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생겼습니다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.</a:t>
            </a:r>
          </a:p>
          <a:p>
            <a:pPr lvl="0" algn="just">
              <a:lnSpc>
                <a:spcPct val="124499"/>
              </a:lnSpc>
            </a:pPr>
            <a:endParaRPr lang="en-US" sz="2800" b="0" i="0" u="none" strike="noStrike" spc="-200" dirty="0">
              <a:solidFill>
                <a:srgbClr val="FFFFFF"/>
              </a:solidFill>
              <a:latin typeface="SF_HailSnow"/>
            </a:endParaRPr>
          </a:p>
          <a:p>
            <a:pPr lvl="0" algn="just">
              <a:lnSpc>
                <a:spcPct val="124499"/>
              </a:lnSpc>
            </a:pP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이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모든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과정에서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함께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고생했던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팀원들과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열심히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이끌어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주신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박경민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팀장님께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깊은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감사를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2800" b="0" i="0" u="none" strike="noStrike" spc="-200" dirty="0">
                <a:solidFill>
                  <a:srgbClr val="FFFFFF"/>
                </a:solidFill>
                <a:ea typeface="SF_HailSnow"/>
              </a:rPr>
              <a:t>드립니다</a:t>
            </a:r>
            <a:r>
              <a:rPr lang="en-US" sz="2800" b="0" i="0" u="none" strike="noStrike" spc="-200" dirty="0">
                <a:solidFill>
                  <a:srgbClr val="FFFFFF"/>
                </a:solidFill>
                <a:latin typeface="SF_HailSnow"/>
              </a:rPr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889000"/>
            <a:ext cx="16497300" cy="952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2184400" y="6108700"/>
            <a:ext cx="7035800" cy="2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1231900"/>
            <a:ext cx="254000" cy="254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9000" y="1231900"/>
            <a:ext cx="254000" cy="254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6200" y="12319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3400" y="12319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4100" y="4356100"/>
            <a:ext cx="1193800" cy="9906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85500" y="3225800"/>
            <a:ext cx="254000" cy="254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68100" y="3225800"/>
            <a:ext cx="254000" cy="2540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10">
            <a:alphaModFix amt="20000"/>
          </a:blip>
          <a:stretch>
            <a:fillRect/>
          </a:stretch>
        </p:blipFill>
        <p:spPr>
          <a:xfrm>
            <a:off x="16573500" y="5651500"/>
            <a:ext cx="5130800" cy="190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alphaModFix amt="20000"/>
          </a:blip>
          <a:stretch>
            <a:fillRect/>
          </a:stretch>
        </p:blipFill>
        <p:spPr>
          <a:xfrm>
            <a:off x="16573500" y="6388100"/>
            <a:ext cx="5130800" cy="19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>
            <a:alphaModFix amt="20000"/>
          </a:blip>
          <a:stretch>
            <a:fillRect/>
          </a:stretch>
        </p:blipFill>
        <p:spPr>
          <a:xfrm>
            <a:off x="16573500" y="7124700"/>
            <a:ext cx="5130800" cy="190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>
            <a:alphaModFix amt="15000"/>
          </a:blip>
          <a:stretch>
            <a:fillRect/>
          </a:stretch>
        </p:blipFill>
        <p:spPr>
          <a:xfrm rot="-3180000">
            <a:off x="13017500" y="8432800"/>
            <a:ext cx="2476500" cy="2070100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23100" y="3009900"/>
            <a:ext cx="2971800" cy="1016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23100" y="3594100"/>
            <a:ext cx="2971800" cy="101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8991600"/>
            <a:ext cx="520700" cy="5207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2298700" y="2679700"/>
            <a:ext cx="4622800" cy="152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8600" b="0" i="0" u="none" strike="noStrike" spc="-200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216400" y="5676900"/>
            <a:ext cx="7124700" cy="152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8600" b="0" i="0" u="none" strike="noStrike" spc="-200">
                <a:solidFill>
                  <a:srgbClr val="FFFFFF"/>
                </a:solidFill>
                <a:ea typeface="SF_HailSnow"/>
              </a:rPr>
              <a:t>고생하셨습니다</a:t>
            </a:r>
            <a:r>
              <a:rPr lang="en-US" sz="8600" b="0" i="0" u="none" strike="noStrike" spc="-200">
                <a:solidFill>
                  <a:srgbClr val="FFFFFF"/>
                </a:solidFill>
                <a:latin typeface="SF_HailSnow"/>
              </a:rPr>
              <a:t>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04600" y="3886200"/>
            <a:ext cx="622300" cy="1968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1000" b="0" i="0" u="none" strike="noStrike" spc="-300">
                <a:solidFill>
                  <a:srgbClr val="DC56A9"/>
                </a:solidFill>
                <a:latin typeface="SF_HailSnow"/>
              </a:rPr>
              <a:t>{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77600" y="5600700"/>
            <a:ext cx="1308100" cy="280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15700" b="0" i="0" u="none" strike="noStrike" spc="-400">
                <a:solidFill>
                  <a:srgbClr val="FF630E"/>
                </a:solidFill>
                <a:latin typeface="SF_HailSnow"/>
              </a:rPr>
              <a:t>*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35200" y="5626100"/>
            <a:ext cx="1993900" cy="153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600" b="0" i="0" u="none" strike="noStrike" spc="-200">
                <a:solidFill>
                  <a:srgbClr val="41C5FF"/>
                </a:solidFill>
                <a:latin typeface="SF_HailSnow"/>
              </a:rPr>
              <a:t>[     ]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992600" y="-1054100"/>
            <a:ext cx="1511300" cy="478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6900" b="0" i="0" u="none" strike="noStrike" spc="-700">
                <a:solidFill>
                  <a:srgbClr val="DC56A9">
                    <a:alpha val="20000"/>
                  </a:srgbClr>
                </a:solidFill>
                <a:latin typeface="SF_HailSnow"/>
              </a:rPr>
              <a:t>{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757400" y="2324100"/>
            <a:ext cx="2489200" cy="534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900" b="0" i="0" u="none" strike="noStrike" spc="-800">
                <a:solidFill>
                  <a:srgbClr val="FF630E">
                    <a:alpha val="20000"/>
                  </a:srgbClr>
                </a:solidFill>
                <a:latin typeface="SF_HailSnow"/>
              </a:rPr>
              <a:t>*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 spc="-100">
                <a:solidFill>
                  <a:srgbClr val="FFFFFF"/>
                </a:solidFill>
                <a:latin typeface="SF_HailSnow"/>
              </a:rPr>
              <a:t>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900" b="0" i="0" u="none" strike="noStrike">
                <a:solidFill>
                  <a:srgbClr val="FFFFFF"/>
                </a:solidFill>
                <a:latin typeface="SF_HailSnow"/>
              </a:rPr>
              <a:t>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08500" y="4140200"/>
            <a:ext cx="6489700" cy="152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8600" b="0" i="0" u="none" strike="noStrike" spc="-200">
                <a:solidFill>
                  <a:srgbClr val="FFFFFF"/>
                </a:solidFill>
                <a:ea typeface="SF_HailSnow"/>
              </a:rPr>
              <a:t>기간동안</a:t>
            </a:r>
            <a:r>
              <a:rPr lang="en-US" sz="8600" b="0" i="0" u="none" strike="noStrike" spc="-200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8600" b="0" i="0" u="none" strike="noStrike" spc="-200">
                <a:solidFill>
                  <a:srgbClr val="FFFFFF"/>
                </a:solidFill>
                <a:ea typeface="SF_HailSnow"/>
              </a:rPr>
              <a:t>모두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683000" y="1181100"/>
            <a:ext cx="23749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100" b="0" i="0" u="none" strike="noStrike">
                <a:solidFill>
                  <a:srgbClr val="FFFFFF"/>
                </a:solidFill>
                <a:ea typeface="SF_HailSnow"/>
              </a:rPr>
              <a:t>휴먼교육센터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465300" y="1206500"/>
            <a:ext cx="2374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쪼꼬미들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3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차</a:t>
            </a:r>
            <a:r>
              <a:rPr lang="en-US" sz="1700" b="0" i="0" u="none" strike="noStrike">
                <a:solidFill>
                  <a:srgbClr val="FFFFFF"/>
                </a:solidFill>
                <a:latin typeface="SF_HailSnow"/>
              </a:rPr>
              <a:t> </a:t>
            </a:r>
            <a:r>
              <a:rPr lang="ko-KR" sz="1700" b="0" i="0" u="none" strike="noStrike">
                <a:solidFill>
                  <a:srgbClr val="FFFFFF"/>
                </a:solidFill>
                <a:ea typeface="SF_HailSnow"/>
              </a:rPr>
              <a:t>프로젝트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638300" y="8674100"/>
            <a:ext cx="4978400" cy="952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24499"/>
              </a:lnSpc>
            </a:pPr>
            <a:r>
              <a:rPr lang="en-US" sz="2600" b="0" i="0" u="none" strike="noStrike">
                <a:solidFill>
                  <a:srgbClr val="FFFFFF"/>
                </a:solidFill>
                <a:latin typeface="SF_HailSnow"/>
              </a:rPr>
              <a:t># human </a:t>
            </a:r>
            <a:r>
              <a:rPr lang="en-US" sz="2600" b="0" i="0" u="none" strike="noStrike">
                <a:solidFill>
                  <a:srgbClr val="FF630E"/>
                </a:solidFill>
                <a:latin typeface="SF_HailSnow"/>
              </a:rPr>
              <a:t>Little ones</a:t>
            </a:r>
            <a:r>
              <a:rPr lang="en-US" sz="2600" b="0" i="0" u="none" strike="noStrike">
                <a:solidFill>
                  <a:srgbClr val="FFFFFF"/>
                </a:solidFill>
                <a:latin typeface="SF_HailSnow"/>
              </a:rPr>
              <a:t> ( )    {</a:t>
            </a:r>
          </a:p>
          <a:p>
            <a:pPr lvl="0" algn="r">
              <a:lnSpc>
                <a:spcPct val="124499"/>
              </a:lnSpc>
            </a:pPr>
            <a:r>
              <a:rPr lang="en-US" sz="2600" b="0" i="0" u="none" strike="noStrike">
                <a:solidFill>
                  <a:srgbClr val="FFFFFF"/>
                </a:solidFill>
                <a:latin typeface="SF_HailSnow"/>
              </a:rPr>
              <a:t>Team :  = </a:t>
            </a:r>
            <a:r>
              <a:rPr lang="ko-KR" sz="2600" b="0" i="0" u="none" strike="noStrike">
                <a:solidFill>
                  <a:srgbClr val="5573FF"/>
                </a:solidFill>
                <a:ea typeface="SF_HailSnow"/>
              </a:rPr>
              <a:t>쪼꼬미들</a:t>
            </a:r>
            <a:r>
              <a:rPr lang="en-US" sz="2600" b="0" i="0" u="none" strike="noStrike">
                <a:solidFill>
                  <a:srgbClr val="FFFFFF"/>
                </a:solidFill>
                <a:latin typeface="SF_HailSnow"/>
              </a:rPr>
              <a:t> ; / Little ones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7259300" y="-38100"/>
            <a:ext cx="12065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7000" b="0" i="0" u="none" strike="noStrike" spc="-100">
                <a:solidFill>
                  <a:srgbClr val="FFFFFF"/>
                </a:solidFill>
                <a:latin typeface="SF_HailSnow"/>
              </a:rP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1286</Words>
  <Application>Microsoft Office PowerPoint</Application>
  <PresentationFormat>사용자 지정</PresentationFormat>
  <Paragraphs>536</Paragraphs>
  <Slides>37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1" baseType="lpstr">
      <vt:lpstr>Calibri</vt:lpstr>
      <vt:lpstr>SF_HailSnow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luv.cy</dc:creator>
  <cp:lastModifiedBy>채윤</cp:lastModifiedBy>
  <cp:revision>4</cp:revision>
  <dcterms:created xsi:type="dcterms:W3CDTF">2006-08-16T00:00:00Z</dcterms:created>
  <dcterms:modified xsi:type="dcterms:W3CDTF">2024-10-23T08:06:47Z</dcterms:modified>
</cp:coreProperties>
</file>