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1" r:id="rId2"/>
    <p:sldId id="272" r:id="rId3"/>
    <p:sldId id="273" r:id="rId4"/>
    <p:sldId id="277" r:id="rId5"/>
    <p:sldId id="295" r:id="rId6"/>
    <p:sldId id="264" r:id="rId7"/>
    <p:sldId id="281" r:id="rId8"/>
    <p:sldId id="270" r:id="rId9"/>
    <p:sldId id="276" r:id="rId10"/>
    <p:sldId id="294" r:id="rId11"/>
    <p:sldId id="297" r:id="rId12"/>
    <p:sldId id="293" r:id="rId13"/>
    <p:sldId id="301" r:id="rId14"/>
    <p:sldId id="298" r:id="rId15"/>
    <p:sldId id="300" r:id="rId16"/>
    <p:sldId id="309" r:id="rId17"/>
    <p:sldId id="308" r:id="rId18"/>
    <p:sldId id="307" r:id="rId19"/>
    <p:sldId id="304" r:id="rId20"/>
    <p:sldId id="313" r:id="rId21"/>
    <p:sldId id="314" r:id="rId22"/>
    <p:sldId id="303" r:id="rId23"/>
    <p:sldId id="302" r:id="rId24"/>
    <p:sldId id="312" r:id="rId25"/>
    <p:sldId id="311" r:id="rId26"/>
    <p:sldId id="310" r:id="rId27"/>
    <p:sldId id="305" r:id="rId28"/>
    <p:sldId id="306" r:id="rId29"/>
    <p:sldId id="29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3395A9C-D069-4FE1-9FFC-69E6E3E8A07B}">
          <p14:sldIdLst>
            <p14:sldId id="271"/>
            <p14:sldId id="272"/>
            <p14:sldId id="273"/>
            <p14:sldId id="277"/>
            <p14:sldId id="295"/>
            <p14:sldId id="264"/>
            <p14:sldId id="281"/>
            <p14:sldId id="270"/>
            <p14:sldId id="276"/>
            <p14:sldId id="294"/>
            <p14:sldId id="297"/>
            <p14:sldId id="293"/>
            <p14:sldId id="301"/>
            <p14:sldId id="298"/>
            <p14:sldId id="300"/>
          </p14:sldIdLst>
        </p14:section>
        <p14:section name="제목 없는 구역" id="{5D454A90-241C-487E-AC01-738851E93A70}">
          <p14:sldIdLst>
            <p14:sldId id="309"/>
            <p14:sldId id="308"/>
            <p14:sldId id="307"/>
            <p14:sldId id="304"/>
            <p14:sldId id="313"/>
            <p14:sldId id="314"/>
            <p14:sldId id="303"/>
            <p14:sldId id="302"/>
            <p14:sldId id="312"/>
            <p14:sldId id="311"/>
            <p14:sldId id="310"/>
            <p14:sldId id="305"/>
            <p14:sldId id="306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8EA0"/>
    <a:srgbClr val="6C899B"/>
    <a:srgbClr val="F3F9FB"/>
    <a:srgbClr val="F9FCFD"/>
    <a:srgbClr val="23B0C3"/>
    <a:srgbClr val="146772"/>
    <a:srgbClr val="95E2EC"/>
    <a:srgbClr val="D0C6E9"/>
    <a:srgbClr val="FAD6DD"/>
    <a:srgbClr val="FFF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956" autoAdjust="0"/>
  </p:normalViewPr>
  <p:slideViewPr>
    <p:cSldViewPr snapToGrid="0" showGuides="1">
      <p:cViewPr varScale="1">
        <p:scale>
          <a:sx n="76" d="100"/>
          <a:sy n="76" d="100"/>
        </p:scale>
        <p:origin x="946" y="5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D0FDD-A09E-43B4-BAA1-A992053980E5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D0CDC-D86B-433E-AC6B-91B91D60D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34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D0CDC-D86B-433E-AC6B-91B91D60D3F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831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D0CDC-D86B-433E-AC6B-91B91D60D3F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75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D0CDC-D86B-433E-AC6B-91B91D60D3F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0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513347" y="884874"/>
            <a:ext cx="10009471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000" spc="-15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스마트팩토리</a:t>
            </a:r>
            <a:r>
              <a:rPr lang="ko-KR" altLang="en-US" sz="5000" spc="-1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5000" spc="-1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MES </a:t>
            </a:r>
            <a:r>
              <a:rPr lang="ko-KR" altLang="en-US" sz="5000" spc="-1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웹솔루션 프로젝트</a:t>
            </a:r>
            <a:endParaRPr lang="en-US" altLang="ko-KR" sz="5000" spc="-1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3500" spc="-1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지능화된 생산관리 솔루션 프로젝트</a:t>
            </a:r>
            <a:r>
              <a:rPr lang="en-US" altLang="ko-KR" sz="3500" spc="-1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(MES-WEB)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5419128"/>
            <a:ext cx="25442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쪼꼬미들</a:t>
            </a:r>
            <a:endParaRPr lang="en-US" altLang="ko-KR" sz="15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50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박경민 </a:t>
            </a:r>
            <a:r>
              <a:rPr lang="ko-KR" altLang="en-US" sz="15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김성령</a:t>
            </a:r>
            <a:r>
              <a:rPr lang="ko-KR" altLang="en-US" sz="15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5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맹채윤</a:t>
            </a:r>
            <a:r>
              <a:rPr lang="ko-KR" altLang="en-US" sz="15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5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현준수</a:t>
            </a:r>
            <a:endParaRPr lang="ko-KR" altLang="en-US" sz="15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A42B88C-7A75-2986-2D06-45EA103B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783" y="6447634"/>
            <a:ext cx="4420217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2CED0DE-6F71-71B8-7E6B-E4BBFE0015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31"/>
          <a:stretch/>
        </p:blipFill>
        <p:spPr>
          <a:xfrm>
            <a:off x="6096000" y="0"/>
            <a:ext cx="6108378" cy="685800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2362199"/>
            <a:ext cx="304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1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2300644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322211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2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3160556"/>
            <a:ext cx="1426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기획 구성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4020468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3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3958913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UML</a:t>
            </a:r>
            <a:endParaRPr lang="ko-KR" altLang="en-US" sz="2800" spc="-3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CD14-4594-1730-18CF-710701846C6F}"/>
              </a:ext>
            </a:extLst>
          </p:cNvPr>
          <p:cNvSpPr txBox="1"/>
          <p:nvPr/>
        </p:nvSpPr>
        <p:spPr>
          <a:xfrm>
            <a:off x="1856247" y="4869412"/>
            <a:ext cx="352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4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B9965-4F0D-8E0C-4C5A-019C795529F3}"/>
              </a:ext>
            </a:extLst>
          </p:cNvPr>
          <p:cNvSpPr txBox="1"/>
          <p:nvPr/>
        </p:nvSpPr>
        <p:spPr>
          <a:xfrm>
            <a:off x="2585007" y="4807857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9861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contents</a:t>
            </a:r>
            <a:endParaRPr lang="ko-KR" altLang="en-US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27A0C-7C87-ECAA-4D76-49A754BB1611}"/>
              </a:ext>
            </a:extLst>
          </p:cNvPr>
          <p:cNvSpPr txBox="1"/>
          <p:nvPr/>
        </p:nvSpPr>
        <p:spPr>
          <a:xfrm>
            <a:off x="1838965" y="560621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5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3CC1A-C6DF-782C-B979-BCF03520BB14}"/>
              </a:ext>
            </a:extLst>
          </p:cNvPr>
          <p:cNvSpPr txBox="1"/>
          <p:nvPr/>
        </p:nvSpPr>
        <p:spPr>
          <a:xfrm>
            <a:off x="2567725" y="5544659"/>
            <a:ext cx="763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ERD</a:t>
            </a:r>
            <a:endParaRPr lang="ko-KR" altLang="en-US" sz="2800" spc="-3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374814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프로젝트 개요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8CA7BAF-2555-940B-9F1B-8079DCD3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35" y="6444992"/>
            <a:ext cx="307700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프로젝트 개요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1302931" y="2672718"/>
            <a:ext cx="9586149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0" b="1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식품생산관리 </a:t>
            </a:r>
            <a:r>
              <a:rPr lang="en-US" altLang="ko-KR" sz="6500" b="1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MES </a:t>
            </a:r>
            <a:r>
              <a:rPr lang="ko-KR" altLang="en-US" sz="6500" b="1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시스템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1803006" y="4096357"/>
            <a:ext cx="85860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만두의 다양한 소 재료에 따른 섬세한 생산과정을 효율적으로 관리</a:t>
            </a:r>
            <a:endParaRPr lang="en-US" altLang="ko-KR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ctr"/>
            <a:r>
              <a:rPr lang="en-US" altLang="ko-KR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MES </a:t>
            </a:r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시스템을 도입하여 효율성을 높이고 최적화된 시스템 구축</a:t>
            </a: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4BE3BC1-E504-9AB0-3C8D-8E75AD978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131" y="6535630"/>
            <a:ext cx="2495898" cy="16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8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5939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기획 구성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8CA7BAF-2555-940B-9F1B-8079DCD3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35" y="6444992"/>
            <a:ext cx="307700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13B2B03-9958-7080-A8FA-B021EDFEB92B}"/>
              </a:ext>
            </a:extLst>
          </p:cNvPr>
          <p:cNvSpPr/>
          <p:nvPr/>
        </p:nvSpPr>
        <p:spPr>
          <a:xfrm>
            <a:off x="354996" y="1626524"/>
            <a:ext cx="5446091" cy="1882428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993AD8-5CEA-2D1B-82AC-2D89F5B58074}"/>
              </a:ext>
            </a:extLst>
          </p:cNvPr>
          <p:cNvGrpSpPr/>
          <p:nvPr/>
        </p:nvGrpSpPr>
        <p:grpSpPr>
          <a:xfrm>
            <a:off x="1337172" y="1891019"/>
            <a:ext cx="3614024" cy="1389561"/>
            <a:chOff x="5071677" y="598302"/>
            <a:chExt cx="5322767" cy="204864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917425D-F03B-F354-FEC0-11250975C51C}"/>
                </a:ext>
              </a:extLst>
            </p:cNvPr>
            <p:cNvSpPr/>
            <p:nvPr/>
          </p:nvSpPr>
          <p:spPr>
            <a:xfrm>
              <a:off x="5071677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D86A9D-39F0-778D-7C2D-6B2967ABF872}"/>
                </a:ext>
              </a:extLst>
            </p:cNvPr>
            <p:cNvSpPr/>
            <p:nvPr/>
          </p:nvSpPr>
          <p:spPr>
            <a:xfrm>
              <a:off x="8345799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49E913F-178D-7981-553C-769FFE1B1252}"/>
                </a:ext>
              </a:extLst>
            </p:cNvPr>
            <p:cNvSpPr/>
            <p:nvPr/>
          </p:nvSpPr>
          <p:spPr>
            <a:xfrm>
              <a:off x="6708666" y="598302"/>
              <a:ext cx="2048645" cy="20486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67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AAE5F6-97C6-5768-5372-CE3519C249BD}"/>
              </a:ext>
            </a:extLst>
          </p:cNvPr>
          <p:cNvSpPr/>
          <p:nvPr/>
        </p:nvSpPr>
        <p:spPr>
          <a:xfrm>
            <a:off x="5923523" y="1626524"/>
            <a:ext cx="5446091" cy="1882428"/>
          </a:xfrm>
          <a:prstGeom prst="roundRect">
            <a:avLst>
              <a:gd name="adj" fmla="val 48203"/>
            </a:avLst>
          </a:prstGeom>
          <a:solidFill>
            <a:schemeClr val="bg1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4B8AE79-A306-A46A-EEF1-06F4CEFAEB92}"/>
              </a:ext>
            </a:extLst>
          </p:cNvPr>
          <p:cNvSpPr/>
          <p:nvPr/>
        </p:nvSpPr>
        <p:spPr>
          <a:xfrm>
            <a:off x="6843235" y="1872958"/>
            <a:ext cx="1390978" cy="1389561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B7E96AE-48A6-A34C-EFD2-3F9F934109DD}"/>
              </a:ext>
            </a:extLst>
          </p:cNvPr>
          <p:cNvSpPr/>
          <p:nvPr/>
        </p:nvSpPr>
        <p:spPr>
          <a:xfrm>
            <a:off x="9226796" y="1872958"/>
            <a:ext cx="1390978" cy="1389561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685C743-667E-953C-9424-2457F2A44BBC}"/>
              </a:ext>
            </a:extLst>
          </p:cNvPr>
          <p:cNvSpPr/>
          <p:nvPr/>
        </p:nvSpPr>
        <p:spPr>
          <a:xfrm>
            <a:off x="8034964" y="1872958"/>
            <a:ext cx="1390978" cy="1389561"/>
          </a:xfrm>
          <a:prstGeom prst="ellipse">
            <a:avLst/>
          </a:prstGeom>
          <a:solidFill>
            <a:schemeClr val="accent3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B0FA2DB-04BD-3FA3-A21A-F8E8709A8DA7}"/>
              </a:ext>
            </a:extLst>
          </p:cNvPr>
          <p:cNvSpPr/>
          <p:nvPr/>
        </p:nvSpPr>
        <p:spPr>
          <a:xfrm>
            <a:off x="256566" y="331353"/>
            <a:ext cx="11433989" cy="877954"/>
          </a:xfrm>
          <a:prstGeom prst="roundRect">
            <a:avLst>
              <a:gd name="adj" fmla="val 48203"/>
            </a:avLst>
          </a:prstGeom>
          <a:solidFill>
            <a:schemeClr val="accent2"/>
          </a:solidFill>
          <a:ln>
            <a:noFill/>
          </a:ln>
          <a:effectLst>
            <a:outerShdw blurRad="76200" dist="12700" dir="2700000" algn="tl" rotWithShape="0">
              <a:schemeClr val="bg1">
                <a:lumMod val="85000"/>
                <a:alpha val="6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53D032-5499-0641-D904-7324D054E01F}"/>
              </a:ext>
            </a:extLst>
          </p:cNvPr>
          <p:cNvSpPr txBox="1"/>
          <p:nvPr/>
        </p:nvSpPr>
        <p:spPr>
          <a:xfrm flipH="1">
            <a:off x="1549131" y="2412732"/>
            <a:ext cx="9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기획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E3A30-AC1B-F0AA-579F-425170F442B5}"/>
              </a:ext>
            </a:extLst>
          </p:cNvPr>
          <p:cNvSpPr txBox="1"/>
          <p:nvPr/>
        </p:nvSpPr>
        <p:spPr>
          <a:xfrm flipH="1">
            <a:off x="2660605" y="2427364"/>
            <a:ext cx="9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디자인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7853B-477E-91A6-7476-B9DE24370803}"/>
              </a:ext>
            </a:extLst>
          </p:cNvPr>
          <p:cNvSpPr txBox="1"/>
          <p:nvPr/>
        </p:nvSpPr>
        <p:spPr>
          <a:xfrm flipH="1">
            <a:off x="3872765" y="2412732"/>
            <a:ext cx="9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146772"/>
                </a:solidFill>
              </a:rPr>
              <a:t>개발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6834E9-F8C4-A144-81C2-01D4A963F72A}"/>
              </a:ext>
            </a:extLst>
          </p:cNvPr>
          <p:cNvSpPr txBox="1"/>
          <p:nvPr/>
        </p:nvSpPr>
        <p:spPr>
          <a:xfrm flipH="1">
            <a:off x="7062265" y="2393247"/>
            <a:ext cx="9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테스트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516656-473D-938C-C42F-7CEC57624741}"/>
              </a:ext>
            </a:extLst>
          </p:cNvPr>
          <p:cNvSpPr txBox="1"/>
          <p:nvPr/>
        </p:nvSpPr>
        <p:spPr>
          <a:xfrm flipH="1">
            <a:off x="8253994" y="2393247"/>
            <a:ext cx="9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평가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0E921-C951-E3EE-3892-18B32D1CCC90}"/>
              </a:ext>
            </a:extLst>
          </p:cNvPr>
          <p:cNvSpPr txBox="1"/>
          <p:nvPr/>
        </p:nvSpPr>
        <p:spPr>
          <a:xfrm flipH="1">
            <a:off x="9484219" y="2393247"/>
            <a:ext cx="9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피드백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70242-DC28-DD32-4A7C-757FF2917D8B}"/>
              </a:ext>
            </a:extLst>
          </p:cNvPr>
          <p:cNvSpPr txBox="1"/>
          <p:nvPr/>
        </p:nvSpPr>
        <p:spPr>
          <a:xfrm flipH="1">
            <a:off x="746784" y="477050"/>
            <a:ext cx="10520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Agile</a:t>
            </a:r>
            <a:r>
              <a:rPr lang="ko-KR" altLang="en-US" sz="3200" b="1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방법론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18B6D6-5295-9E9F-5BFB-C7CE4DAC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733" y="6380950"/>
            <a:ext cx="2629267" cy="314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55A1BA-C509-1F35-D9E6-6DB94103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9" y="3823560"/>
            <a:ext cx="10556827" cy="25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303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기획 구성</a:t>
            </a:r>
            <a:r>
              <a:rPr lang="en-US" altLang="ko-KR" sz="2800" b="1" spc="-30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– Agile</a:t>
            </a:r>
            <a:endParaRPr lang="ko-KR" altLang="en-US" sz="2800" b="1" spc="-3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33E35D-5D7C-9775-C063-E4161DFEE7C5}"/>
              </a:ext>
            </a:extLst>
          </p:cNvPr>
          <p:cNvSpPr/>
          <p:nvPr/>
        </p:nvSpPr>
        <p:spPr>
          <a:xfrm>
            <a:off x="1809134" y="4953003"/>
            <a:ext cx="9065341" cy="11871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EE510B-CBB0-C770-7D0F-5E75EBB47954}"/>
              </a:ext>
            </a:extLst>
          </p:cNvPr>
          <p:cNvSpPr txBox="1"/>
          <p:nvPr/>
        </p:nvSpPr>
        <p:spPr>
          <a:xfrm>
            <a:off x="2231923" y="5254175"/>
            <a:ext cx="8455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차 스프린트 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</a:t>
            </a:r>
            <a:r>
              <a:rPr lang="ko-KR" altLang="en-US" sz="3200" spc="-3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차피드백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및 요구사항 반영 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종료일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3200" spc="-3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881CF8-446C-F0A6-C23F-73C4527DDE49}"/>
              </a:ext>
            </a:extLst>
          </p:cNvPr>
          <p:cNvSpPr/>
          <p:nvPr/>
        </p:nvSpPr>
        <p:spPr>
          <a:xfrm>
            <a:off x="1809136" y="1436234"/>
            <a:ext cx="9065341" cy="11871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8AEE2-82B1-6D9E-5CBB-6918EC49DC2A}"/>
              </a:ext>
            </a:extLst>
          </p:cNvPr>
          <p:cNvSpPr txBox="1"/>
          <p:nvPr/>
        </p:nvSpPr>
        <p:spPr>
          <a:xfrm>
            <a:off x="2397214" y="1737403"/>
            <a:ext cx="7821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차 스프린트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: 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스프링으로 변환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(7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일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3200" spc="-3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0C095E96-C995-F11E-293F-F485FC4E3223}"/>
              </a:ext>
            </a:extLst>
          </p:cNvPr>
          <p:cNvSpPr/>
          <p:nvPr/>
        </p:nvSpPr>
        <p:spPr>
          <a:xfrm rot="10800000">
            <a:off x="5893849" y="2775360"/>
            <a:ext cx="427474" cy="240633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4B4394-508A-F880-4605-DC3ED74B1F1F}"/>
              </a:ext>
            </a:extLst>
          </p:cNvPr>
          <p:cNvSpPr/>
          <p:nvPr/>
        </p:nvSpPr>
        <p:spPr>
          <a:xfrm>
            <a:off x="1809135" y="3194618"/>
            <a:ext cx="9065341" cy="11871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F7AA54-918F-E449-38FE-9DB519BCC48F}"/>
              </a:ext>
            </a:extLst>
          </p:cNvPr>
          <p:cNvSpPr txBox="1"/>
          <p:nvPr/>
        </p:nvSpPr>
        <p:spPr>
          <a:xfrm>
            <a:off x="2530652" y="3495789"/>
            <a:ext cx="79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차 스프린트 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1</a:t>
            </a:r>
            <a:r>
              <a:rPr lang="ko-KR" altLang="en-US" sz="3200" spc="-3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차피드백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및 요구사항 반영 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(7</a:t>
            </a:r>
            <a:r>
              <a:rPr lang="ko-KR" altLang="en-US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일</a:t>
            </a:r>
            <a:r>
              <a:rPr lang="en-US" altLang="ko-KR" sz="3200" spc="-3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3200" spc="-3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8AECA5E6-28CC-9BFF-90A6-0B495ACFC4F9}"/>
              </a:ext>
            </a:extLst>
          </p:cNvPr>
          <p:cNvSpPr/>
          <p:nvPr/>
        </p:nvSpPr>
        <p:spPr>
          <a:xfrm rot="10800000">
            <a:off x="5893849" y="4533744"/>
            <a:ext cx="427474" cy="240633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A9CD25-BD2D-CD09-8D41-E52E04761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683" y="6476080"/>
            <a:ext cx="2132877" cy="2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5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B21FA2A-E9B1-415E-DC43-AAF860E06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154" y="6471731"/>
            <a:ext cx="2657846" cy="285790"/>
          </a:xfrm>
          <a:prstGeom prst="rect">
            <a:avLst/>
          </a:prstGeom>
        </p:spPr>
      </p:pic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3CC4956B-6002-A6FC-B2DB-4A53D4A8D1B7}"/>
              </a:ext>
            </a:extLst>
          </p:cNvPr>
          <p:cNvSpPr/>
          <p:nvPr/>
        </p:nvSpPr>
        <p:spPr>
          <a:xfrm>
            <a:off x="623927" y="5146713"/>
            <a:ext cx="4047367" cy="45613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8">
            <a:extLst>
              <a:ext uri="{FF2B5EF4-FFF2-40B4-BE49-F238E27FC236}">
                <a16:creationId xmlns:a16="http://schemas.microsoft.com/office/drawing/2014/main" id="{BB98484B-BE01-33B3-3903-4C45926A6541}"/>
              </a:ext>
            </a:extLst>
          </p:cNvPr>
          <p:cNvSpPr/>
          <p:nvPr/>
        </p:nvSpPr>
        <p:spPr>
          <a:xfrm>
            <a:off x="4702589" y="5146713"/>
            <a:ext cx="3366236" cy="45613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11">
            <a:extLst>
              <a:ext uri="{FF2B5EF4-FFF2-40B4-BE49-F238E27FC236}">
                <a16:creationId xmlns:a16="http://schemas.microsoft.com/office/drawing/2014/main" id="{E2A434DD-05F5-C3D0-A24C-32DE97556BAF}"/>
              </a:ext>
            </a:extLst>
          </p:cNvPr>
          <p:cNvSpPr/>
          <p:nvPr/>
        </p:nvSpPr>
        <p:spPr>
          <a:xfrm>
            <a:off x="8091154" y="5146713"/>
            <a:ext cx="3492905" cy="45613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Pentagon 13">
            <a:extLst>
              <a:ext uri="{FF2B5EF4-FFF2-40B4-BE49-F238E27FC236}">
                <a16:creationId xmlns:a16="http://schemas.microsoft.com/office/drawing/2014/main" id="{F2C8A772-7C05-0F12-0EC6-7B6F64C1E172}"/>
              </a:ext>
            </a:extLst>
          </p:cNvPr>
          <p:cNvSpPr/>
          <p:nvPr/>
        </p:nvSpPr>
        <p:spPr>
          <a:xfrm>
            <a:off x="623929" y="1491209"/>
            <a:ext cx="4067036" cy="302004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Arrow: Pentagon 14">
            <a:extLst>
              <a:ext uri="{FF2B5EF4-FFF2-40B4-BE49-F238E27FC236}">
                <a16:creationId xmlns:a16="http://schemas.microsoft.com/office/drawing/2014/main" id="{4DC6163E-7E33-0D69-207A-46F599594366}"/>
              </a:ext>
            </a:extLst>
          </p:cNvPr>
          <p:cNvSpPr/>
          <p:nvPr/>
        </p:nvSpPr>
        <p:spPr>
          <a:xfrm>
            <a:off x="4694946" y="2699765"/>
            <a:ext cx="3363173" cy="30200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Pentagon 15">
            <a:extLst>
              <a:ext uri="{FF2B5EF4-FFF2-40B4-BE49-F238E27FC236}">
                <a16:creationId xmlns:a16="http://schemas.microsoft.com/office/drawing/2014/main" id="{7E428E93-EC66-52A7-E289-99C3EA41100A}"/>
              </a:ext>
            </a:extLst>
          </p:cNvPr>
          <p:cNvSpPr/>
          <p:nvPr/>
        </p:nvSpPr>
        <p:spPr>
          <a:xfrm>
            <a:off x="8083514" y="3685434"/>
            <a:ext cx="3480878" cy="302004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33C0-7FBD-E1D7-4B4A-59C0846A3B0B}"/>
              </a:ext>
            </a:extLst>
          </p:cNvPr>
          <p:cNvSpPr txBox="1"/>
          <p:nvPr/>
        </p:nvSpPr>
        <p:spPr>
          <a:xfrm>
            <a:off x="669813" y="1523642"/>
            <a:ext cx="949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Section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F9A9A-1ECF-0AE7-C7D4-EAA4C5267DA1}"/>
              </a:ext>
            </a:extLst>
          </p:cNvPr>
          <p:cNvSpPr txBox="1"/>
          <p:nvPr/>
        </p:nvSpPr>
        <p:spPr>
          <a:xfrm>
            <a:off x="4759785" y="2723809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Sora ExtraBold" pitchFamily="2" charset="0"/>
                <a:cs typeface="Sora ExtraBold" pitchFamily="2" charset="0"/>
              </a:rPr>
              <a:t>Section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14F957-CFBC-9468-897C-C29AFC929C72}"/>
              </a:ext>
            </a:extLst>
          </p:cNvPr>
          <p:cNvSpPr txBox="1"/>
          <p:nvPr/>
        </p:nvSpPr>
        <p:spPr>
          <a:xfrm>
            <a:off x="8132677" y="3709478"/>
            <a:ext cx="949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Section 3</a:t>
            </a:r>
          </a:p>
        </p:txBody>
      </p:sp>
      <p:cxnSp>
        <p:nvCxnSpPr>
          <p:cNvPr id="38" name="Straight Connector 20">
            <a:extLst>
              <a:ext uri="{FF2B5EF4-FFF2-40B4-BE49-F238E27FC236}">
                <a16:creationId xmlns:a16="http://schemas.microsoft.com/office/drawing/2014/main" id="{7E38C3CA-6959-9B1D-732F-265A228C0F13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623928" y="1642211"/>
            <a:ext cx="1" cy="35045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1">
            <a:extLst>
              <a:ext uri="{FF2B5EF4-FFF2-40B4-BE49-F238E27FC236}">
                <a16:creationId xmlns:a16="http://schemas.microsoft.com/office/drawing/2014/main" id="{FD37D830-3D95-01FC-36EE-9AF752A3CA3E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690965" y="1642211"/>
            <a:ext cx="0" cy="35045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23">
            <a:extLst>
              <a:ext uri="{FF2B5EF4-FFF2-40B4-BE49-F238E27FC236}">
                <a16:creationId xmlns:a16="http://schemas.microsoft.com/office/drawing/2014/main" id="{C85E342E-160B-EDF1-13F2-818E4C3D0DC1}"/>
              </a:ext>
            </a:extLst>
          </p:cNvPr>
          <p:cNvCxnSpPr>
            <a:cxnSpLocks/>
          </p:cNvCxnSpPr>
          <p:nvPr/>
        </p:nvCxnSpPr>
        <p:spPr>
          <a:xfrm>
            <a:off x="8080448" y="2850767"/>
            <a:ext cx="0" cy="22959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D326E8B-D9AA-03C8-0D2C-96DECFB3B1F6}"/>
              </a:ext>
            </a:extLst>
          </p:cNvPr>
          <p:cNvSpPr txBox="1"/>
          <p:nvPr/>
        </p:nvSpPr>
        <p:spPr>
          <a:xfrm>
            <a:off x="840864" y="5251671"/>
            <a:ext cx="3721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Week 01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EF894F-93B2-DA59-C784-BBF37FD0848B}"/>
              </a:ext>
            </a:extLst>
          </p:cNvPr>
          <p:cNvSpPr txBox="1"/>
          <p:nvPr/>
        </p:nvSpPr>
        <p:spPr>
          <a:xfrm>
            <a:off x="6140739" y="523538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Week 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82F059-A9A4-9B51-4E97-53FC783B4B2D}"/>
              </a:ext>
            </a:extLst>
          </p:cNvPr>
          <p:cNvSpPr txBox="1"/>
          <p:nvPr/>
        </p:nvSpPr>
        <p:spPr>
          <a:xfrm>
            <a:off x="8619561" y="5251670"/>
            <a:ext cx="24360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Week 03</a:t>
            </a:r>
          </a:p>
        </p:txBody>
      </p:sp>
      <p:cxnSp>
        <p:nvCxnSpPr>
          <p:cNvPr id="49" name="Straight Connector 33">
            <a:extLst>
              <a:ext uri="{FF2B5EF4-FFF2-40B4-BE49-F238E27FC236}">
                <a16:creationId xmlns:a16="http://schemas.microsoft.com/office/drawing/2014/main" id="{7BC85DD9-2241-8C1A-E5F1-BC6FB70B1A28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1564392" y="3836436"/>
            <a:ext cx="0" cy="13102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4E2B4DE-CBFE-CCD9-46C5-1A890C50B8B1}"/>
              </a:ext>
            </a:extLst>
          </p:cNvPr>
          <p:cNvSpPr txBox="1"/>
          <p:nvPr/>
        </p:nvSpPr>
        <p:spPr>
          <a:xfrm>
            <a:off x="3622453" y="1218400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3"/>
                </a:solidFill>
                <a:latin typeface="Sora ExtraBold" pitchFamily="2" charset="0"/>
                <a:cs typeface="Sora ExtraBold" pitchFamily="2" charset="0"/>
              </a:rPr>
              <a:t>10.7-10.13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489032-BEF5-1181-4E8D-AF6E731EF757}"/>
              </a:ext>
            </a:extLst>
          </p:cNvPr>
          <p:cNvSpPr txBox="1"/>
          <p:nvPr/>
        </p:nvSpPr>
        <p:spPr>
          <a:xfrm>
            <a:off x="7176619" y="2409910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Sora ExtraBold" pitchFamily="2" charset="0"/>
                <a:cs typeface="Sora ExtraBold" pitchFamily="2" charset="0"/>
              </a:rPr>
              <a:t>10.14~10.20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9AEE1F-4C5D-1CB2-3531-F15D55E43391}"/>
              </a:ext>
            </a:extLst>
          </p:cNvPr>
          <p:cNvSpPr txBox="1"/>
          <p:nvPr/>
        </p:nvSpPr>
        <p:spPr>
          <a:xfrm>
            <a:off x="10751349" y="3384556"/>
            <a:ext cx="8130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solidFill>
                  <a:schemeClr val="accent5"/>
                </a:solidFill>
                <a:latin typeface="Sora ExtraBold" pitchFamily="2" charset="0"/>
                <a:cs typeface="Sora ExtraBold" pitchFamily="2" charset="0"/>
              </a:rPr>
              <a:t>10.21-10.24</a:t>
            </a:r>
          </a:p>
        </p:txBody>
      </p:sp>
      <p:sp>
        <p:nvSpPr>
          <p:cNvPr id="53" name="Arrow: Pentagon 38">
            <a:extLst>
              <a:ext uri="{FF2B5EF4-FFF2-40B4-BE49-F238E27FC236}">
                <a16:creationId xmlns:a16="http://schemas.microsoft.com/office/drawing/2014/main" id="{04E7C501-FEE6-5CEA-DDC0-3A2A6B35DB87}"/>
              </a:ext>
            </a:extLst>
          </p:cNvPr>
          <p:cNvSpPr/>
          <p:nvPr/>
        </p:nvSpPr>
        <p:spPr>
          <a:xfrm>
            <a:off x="633316" y="1989158"/>
            <a:ext cx="955852" cy="135462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row: Pentagon 39">
            <a:extLst>
              <a:ext uri="{FF2B5EF4-FFF2-40B4-BE49-F238E27FC236}">
                <a16:creationId xmlns:a16="http://schemas.microsoft.com/office/drawing/2014/main" id="{D120EF28-AD32-A976-EDFC-4A83B18120C3}"/>
              </a:ext>
            </a:extLst>
          </p:cNvPr>
          <p:cNvSpPr/>
          <p:nvPr/>
        </p:nvSpPr>
        <p:spPr>
          <a:xfrm>
            <a:off x="1647092" y="2175208"/>
            <a:ext cx="1486250" cy="135462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row: Pentagon 40">
            <a:extLst>
              <a:ext uri="{FF2B5EF4-FFF2-40B4-BE49-F238E27FC236}">
                <a16:creationId xmlns:a16="http://schemas.microsoft.com/office/drawing/2014/main" id="{F8BF4180-2B5C-5BD7-8ECD-BD7C50559E7E}"/>
              </a:ext>
            </a:extLst>
          </p:cNvPr>
          <p:cNvSpPr/>
          <p:nvPr/>
        </p:nvSpPr>
        <p:spPr>
          <a:xfrm>
            <a:off x="3189567" y="2379718"/>
            <a:ext cx="1486250" cy="135462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Arrow: Pentagon 45">
            <a:extLst>
              <a:ext uri="{FF2B5EF4-FFF2-40B4-BE49-F238E27FC236}">
                <a16:creationId xmlns:a16="http://schemas.microsoft.com/office/drawing/2014/main" id="{FBEAC3FA-4B40-AD1C-5F15-5601EEE25049}"/>
              </a:ext>
            </a:extLst>
          </p:cNvPr>
          <p:cNvSpPr/>
          <p:nvPr/>
        </p:nvSpPr>
        <p:spPr>
          <a:xfrm>
            <a:off x="4692488" y="3201859"/>
            <a:ext cx="1656829" cy="135462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Pentagon 46">
            <a:extLst>
              <a:ext uri="{FF2B5EF4-FFF2-40B4-BE49-F238E27FC236}">
                <a16:creationId xmlns:a16="http://schemas.microsoft.com/office/drawing/2014/main" id="{39B1C819-7A0C-29E2-EBEA-3566587EEACC}"/>
              </a:ext>
            </a:extLst>
          </p:cNvPr>
          <p:cNvSpPr/>
          <p:nvPr/>
        </p:nvSpPr>
        <p:spPr>
          <a:xfrm>
            <a:off x="6411996" y="3425419"/>
            <a:ext cx="1656829" cy="135462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31143C-0728-6815-C2BD-2FA4C9B23C16}"/>
              </a:ext>
            </a:extLst>
          </p:cNvPr>
          <p:cNvSpPr txBox="1"/>
          <p:nvPr/>
        </p:nvSpPr>
        <p:spPr>
          <a:xfrm>
            <a:off x="552681" y="2128821"/>
            <a:ext cx="3642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03F467-5FC1-F2AB-AF59-AA3BDDBFE0CE}"/>
              </a:ext>
            </a:extLst>
          </p:cNvPr>
          <p:cNvSpPr txBox="1"/>
          <p:nvPr/>
        </p:nvSpPr>
        <p:spPr>
          <a:xfrm>
            <a:off x="1541643" y="2320565"/>
            <a:ext cx="6463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10.8~10.12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14F481-DE59-8DEC-EBC2-BA2B93D97668}"/>
              </a:ext>
            </a:extLst>
          </p:cNvPr>
          <p:cNvSpPr txBox="1"/>
          <p:nvPr/>
        </p:nvSpPr>
        <p:spPr>
          <a:xfrm>
            <a:off x="3107501" y="2532589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10.13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1BCE5F-0AB2-BFDC-83D1-44C8771316D1}"/>
              </a:ext>
            </a:extLst>
          </p:cNvPr>
          <p:cNvSpPr txBox="1"/>
          <p:nvPr/>
        </p:nvSpPr>
        <p:spPr>
          <a:xfrm>
            <a:off x="552681" y="1793213"/>
            <a:ext cx="10294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차 요구사항 수립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D7AC8A-08E7-3C20-6A8E-D3BD9BFC5B60}"/>
              </a:ext>
            </a:extLst>
          </p:cNvPr>
          <p:cNvSpPr txBox="1"/>
          <p:nvPr/>
        </p:nvSpPr>
        <p:spPr>
          <a:xfrm>
            <a:off x="1541643" y="1959831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개발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BE0EA7-27EA-B4A5-6A6D-FB4C158F19C6}"/>
              </a:ext>
            </a:extLst>
          </p:cNvPr>
          <p:cNvSpPr txBox="1"/>
          <p:nvPr/>
        </p:nvSpPr>
        <p:spPr>
          <a:xfrm>
            <a:off x="3107501" y="2166659"/>
            <a:ext cx="12089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테스트 및 평가 피드백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E51539-F83B-6139-BB92-2F10D7021B9B}"/>
              </a:ext>
            </a:extLst>
          </p:cNvPr>
          <p:cNvSpPr txBox="1"/>
          <p:nvPr/>
        </p:nvSpPr>
        <p:spPr>
          <a:xfrm>
            <a:off x="4620595" y="3347295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10.14~10.15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D6E2CB-B6EA-ED58-6EB1-CC00224BF8F8}"/>
              </a:ext>
            </a:extLst>
          </p:cNvPr>
          <p:cNvSpPr txBox="1"/>
          <p:nvPr/>
        </p:nvSpPr>
        <p:spPr>
          <a:xfrm>
            <a:off x="6313845" y="358552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10.15~10.20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305F01-CC56-C53B-6CAC-CD828F8883BA}"/>
              </a:ext>
            </a:extLst>
          </p:cNvPr>
          <p:cNvSpPr txBox="1"/>
          <p:nvPr/>
        </p:nvSpPr>
        <p:spPr>
          <a:xfrm>
            <a:off x="4606163" y="2988618"/>
            <a:ext cx="9989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차 요구사항 수립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7759FF-F81E-9113-5791-5804B760A7BD}"/>
              </a:ext>
            </a:extLst>
          </p:cNvPr>
          <p:cNvSpPr txBox="1"/>
          <p:nvPr/>
        </p:nvSpPr>
        <p:spPr>
          <a:xfrm>
            <a:off x="6313845" y="3210750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차 개발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6209ED-7B0F-5C9D-B82E-97C06C05A8AC}"/>
              </a:ext>
            </a:extLst>
          </p:cNvPr>
          <p:cNvSpPr txBox="1"/>
          <p:nvPr/>
        </p:nvSpPr>
        <p:spPr>
          <a:xfrm>
            <a:off x="7986606" y="4311597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10.21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EA88DA-0BEE-4400-B436-191A25CD40A5}"/>
              </a:ext>
            </a:extLst>
          </p:cNvPr>
          <p:cNvSpPr txBox="1"/>
          <p:nvPr/>
        </p:nvSpPr>
        <p:spPr>
          <a:xfrm>
            <a:off x="8782541" y="4538508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10.22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E5EA31-5D57-F9FA-8E07-F82C3A5D78D4}"/>
              </a:ext>
            </a:extLst>
          </p:cNvPr>
          <p:cNvSpPr txBox="1"/>
          <p:nvPr/>
        </p:nvSpPr>
        <p:spPr>
          <a:xfrm>
            <a:off x="9657592" y="4719732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10.23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0AFCCC-F12B-2DC7-9A65-73CFCE8FF35C}"/>
              </a:ext>
            </a:extLst>
          </p:cNvPr>
          <p:cNvSpPr txBox="1"/>
          <p:nvPr/>
        </p:nvSpPr>
        <p:spPr>
          <a:xfrm>
            <a:off x="7983081" y="3970217"/>
            <a:ext cx="9989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차 요구사항 수립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D145CF-5D2C-27EC-7305-EF23453F517A}"/>
              </a:ext>
            </a:extLst>
          </p:cNvPr>
          <p:cNvSpPr txBox="1"/>
          <p:nvPr/>
        </p:nvSpPr>
        <p:spPr>
          <a:xfrm>
            <a:off x="8791973" y="41683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개발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73" name="Arrow: Pentagon 58">
            <a:extLst>
              <a:ext uri="{FF2B5EF4-FFF2-40B4-BE49-F238E27FC236}">
                <a16:creationId xmlns:a16="http://schemas.microsoft.com/office/drawing/2014/main" id="{22D4591A-52D1-4149-5DB9-628FE4D1C70E}"/>
              </a:ext>
            </a:extLst>
          </p:cNvPr>
          <p:cNvSpPr/>
          <p:nvPr/>
        </p:nvSpPr>
        <p:spPr>
          <a:xfrm>
            <a:off x="8079278" y="4167217"/>
            <a:ext cx="796557" cy="135462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row: Pentagon 59">
            <a:extLst>
              <a:ext uri="{FF2B5EF4-FFF2-40B4-BE49-F238E27FC236}">
                <a16:creationId xmlns:a16="http://schemas.microsoft.com/office/drawing/2014/main" id="{A043EA2A-4426-7FA3-A817-A285D0DB3B50}"/>
              </a:ext>
            </a:extLst>
          </p:cNvPr>
          <p:cNvSpPr/>
          <p:nvPr/>
        </p:nvSpPr>
        <p:spPr>
          <a:xfrm>
            <a:off x="8875835" y="4379333"/>
            <a:ext cx="862774" cy="135462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Arrow: Pentagon 60">
            <a:extLst>
              <a:ext uri="{FF2B5EF4-FFF2-40B4-BE49-F238E27FC236}">
                <a16:creationId xmlns:a16="http://schemas.microsoft.com/office/drawing/2014/main" id="{4AB821CB-7951-B1CC-C346-20E67D00108A}"/>
              </a:ext>
            </a:extLst>
          </p:cNvPr>
          <p:cNvSpPr/>
          <p:nvPr/>
        </p:nvSpPr>
        <p:spPr>
          <a:xfrm>
            <a:off x="9754572" y="4591449"/>
            <a:ext cx="877874" cy="135462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Arrow: Pentagon 1028">
            <a:extLst>
              <a:ext uri="{FF2B5EF4-FFF2-40B4-BE49-F238E27FC236}">
                <a16:creationId xmlns:a16="http://schemas.microsoft.com/office/drawing/2014/main" id="{D733C72F-E15B-0184-248C-49661AC976B3}"/>
              </a:ext>
            </a:extLst>
          </p:cNvPr>
          <p:cNvSpPr/>
          <p:nvPr/>
        </p:nvSpPr>
        <p:spPr>
          <a:xfrm>
            <a:off x="10638019" y="4803564"/>
            <a:ext cx="943226" cy="135462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08F9D1-F541-63E2-9A41-F9E41910C98C}"/>
              </a:ext>
            </a:extLst>
          </p:cNvPr>
          <p:cNvSpPr txBox="1"/>
          <p:nvPr/>
        </p:nvSpPr>
        <p:spPr>
          <a:xfrm>
            <a:off x="9657592" y="4379333"/>
            <a:ext cx="9476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테스트 및 피드백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8D0B1C-AFCB-B0D6-5F26-479A861FFD2C}"/>
              </a:ext>
            </a:extLst>
          </p:cNvPr>
          <p:cNvSpPr txBox="1"/>
          <p:nvPr/>
        </p:nvSpPr>
        <p:spPr>
          <a:xfrm>
            <a:off x="10551023" y="4588961"/>
            <a:ext cx="10230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PPT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 정리 및 마무리</a:t>
            </a:r>
            <a:endParaRPr lang="en-IN" sz="800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D969411-201D-E6F6-137A-6BBC4A379FA6}"/>
              </a:ext>
            </a:extLst>
          </p:cNvPr>
          <p:cNvSpPr txBox="1"/>
          <p:nvPr/>
        </p:nvSpPr>
        <p:spPr>
          <a:xfrm>
            <a:off x="10551023" y="4921061"/>
            <a:ext cx="415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10.24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57EACAF-20D4-EE9B-B839-4F6C098F33A4}"/>
              </a:ext>
            </a:extLst>
          </p:cNvPr>
          <p:cNvSpPr txBox="1"/>
          <p:nvPr/>
        </p:nvSpPr>
        <p:spPr>
          <a:xfrm>
            <a:off x="1163051" y="272716"/>
            <a:ext cx="9554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Agile Timeline</a:t>
            </a:r>
            <a:endParaRPr lang="ko-KR" altLang="en-US" sz="2800" b="1" spc="-3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777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Part 2</a:t>
            </a:r>
            <a:endParaRPr lang="ko-KR" altLang="en-US" sz="16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4536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기획 구성 </a:t>
            </a:r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–  </a:t>
            </a:r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테스트케이스</a:t>
            </a:r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예시</a:t>
            </a:r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2800" b="1" spc="-3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036BBE8-AAE8-9C1C-8F34-B3AED6BC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04573"/>
              </p:ext>
            </p:extLst>
          </p:nvPr>
        </p:nvGraphicFramePr>
        <p:xfrm>
          <a:off x="1189600" y="1529049"/>
          <a:ext cx="9812799" cy="4518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2725">
                  <a:extLst>
                    <a:ext uri="{9D8B030D-6E8A-4147-A177-3AD203B41FA5}">
                      <a16:colId xmlns:a16="http://schemas.microsoft.com/office/drawing/2014/main" val="3519063524"/>
                    </a:ext>
                  </a:extLst>
                </a:gridCol>
                <a:gridCol w="2275229">
                  <a:extLst>
                    <a:ext uri="{9D8B030D-6E8A-4147-A177-3AD203B41FA5}">
                      <a16:colId xmlns:a16="http://schemas.microsoft.com/office/drawing/2014/main" val="269639862"/>
                    </a:ext>
                  </a:extLst>
                </a:gridCol>
                <a:gridCol w="2959194">
                  <a:extLst>
                    <a:ext uri="{9D8B030D-6E8A-4147-A177-3AD203B41FA5}">
                      <a16:colId xmlns:a16="http://schemas.microsoft.com/office/drawing/2014/main" val="415868329"/>
                    </a:ext>
                  </a:extLst>
                </a:gridCol>
                <a:gridCol w="1772725">
                  <a:extLst>
                    <a:ext uri="{9D8B030D-6E8A-4147-A177-3AD203B41FA5}">
                      <a16:colId xmlns:a16="http://schemas.microsoft.com/office/drawing/2014/main" val="3503690522"/>
                    </a:ext>
                  </a:extLst>
                </a:gridCol>
                <a:gridCol w="516463">
                  <a:extLst>
                    <a:ext uri="{9D8B030D-6E8A-4147-A177-3AD203B41FA5}">
                      <a16:colId xmlns:a16="http://schemas.microsoft.com/office/drawing/2014/main" val="373548992"/>
                    </a:ext>
                  </a:extLst>
                </a:gridCol>
                <a:gridCol w="516463">
                  <a:extLst>
                    <a:ext uri="{9D8B030D-6E8A-4147-A177-3AD203B41FA5}">
                      <a16:colId xmlns:a16="http://schemas.microsoft.com/office/drawing/2014/main" val="4031432726"/>
                    </a:ext>
                  </a:extLst>
                </a:gridCol>
              </a:tblGrid>
              <a:tr h="6826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</a:rPr>
                        <a:t>테스트 케이스 번호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</a:rPr>
                        <a:t>테스트 설명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</a:rPr>
                        <a:t>입력 데이터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</a:rPr>
                        <a:t>예상 결과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</a:rPr>
                        <a:t>예상 결과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</a:rPr>
                        <a:t>상태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6058866"/>
                  </a:ext>
                </a:extLst>
              </a:tr>
              <a:tr h="76727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400" u="none" strike="noStrike">
                          <a:effectLst/>
                        </a:rPr>
                        <a:t>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유효한 사용자 로그인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사용자 </a:t>
                      </a:r>
                      <a:r>
                        <a:rPr lang="en-US" altLang="ko-KR" sz="1400" u="none" strike="noStrike">
                          <a:effectLst/>
                        </a:rPr>
                        <a:t>ID: user1, </a:t>
                      </a:r>
                      <a:r>
                        <a:rPr lang="ko-KR" altLang="en-US" sz="1400" u="none" strike="noStrike">
                          <a:effectLst/>
                        </a:rPr>
                        <a:t>비밀번호</a:t>
                      </a:r>
                      <a:r>
                        <a:rPr lang="en-US" altLang="ko-KR" sz="1400" u="none" strike="noStrike">
                          <a:effectLst/>
                        </a:rPr>
                        <a:t>: password1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로그인 성공 메시지 표시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F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17350143"/>
                  </a:ext>
                </a:extLst>
              </a:tr>
              <a:tr h="76727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400" u="none" strike="noStrike">
                          <a:effectLst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잘못된 비밀번호 입력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사용자 </a:t>
                      </a:r>
                      <a:r>
                        <a:rPr lang="en-US" altLang="ko-KR" sz="1400" u="none" strike="noStrike">
                          <a:effectLst/>
                        </a:rPr>
                        <a:t>ID: user1, </a:t>
                      </a:r>
                      <a:r>
                        <a:rPr lang="ko-KR" altLang="en-US" sz="1400" u="none" strike="noStrike">
                          <a:effectLst/>
                        </a:rPr>
                        <a:t>비밀번호</a:t>
                      </a:r>
                      <a:r>
                        <a:rPr lang="en-US" altLang="ko-KR" sz="1400" u="none" strike="noStrike">
                          <a:effectLst/>
                        </a:rPr>
                        <a:t>: wrongpassword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로그인 실패 메시지 표시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u="none" strike="noStrike" dirty="0">
                          <a:effectLst/>
                        </a:rPr>
                        <a:t>     T</a:t>
                      </a: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21249136"/>
                  </a:ext>
                </a:extLst>
              </a:tr>
              <a:tr h="76727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400" u="none" strike="noStrike" dirty="0">
                          <a:effectLst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존재하지 않는 사용자 로그인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사용자 </a:t>
                      </a:r>
                      <a:r>
                        <a:rPr lang="en-US" sz="1400" u="none" strike="noStrike" dirty="0">
                          <a:effectLst/>
                        </a:rPr>
                        <a:t>ID: </a:t>
                      </a:r>
                      <a:r>
                        <a:rPr lang="en-US" sz="1400" u="none" strike="noStrike" dirty="0" err="1">
                          <a:effectLst/>
                        </a:rPr>
                        <a:t>invalidUser</a:t>
                      </a:r>
                      <a:r>
                        <a:rPr lang="en-US" sz="1400" u="none" strike="noStrike" dirty="0">
                          <a:effectLst/>
                        </a:rPr>
                        <a:t>, </a:t>
                      </a:r>
                      <a:r>
                        <a:rPr lang="ko-KR" altLang="en-US" sz="1400" u="none" strike="noStrike" dirty="0">
                          <a:effectLst/>
                        </a:rPr>
                        <a:t>비밀번호</a:t>
                      </a:r>
                      <a:r>
                        <a:rPr lang="en-US" altLang="ko-KR" sz="1400" u="none" strike="noStrike" dirty="0">
                          <a:effectLst/>
                        </a:rPr>
                        <a:t>: </a:t>
                      </a:r>
                      <a:r>
                        <a:rPr lang="en-US" sz="1400" u="none" strike="noStrike" dirty="0">
                          <a:effectLst/>
                        </a:rPr>
                        <a:t>password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로그인 실패 메시지 표시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7404448"/>
                  </a:ext>
                </a:extLst>
              </a:tr>
              <a:tr h="76727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400" u="none" strike="noStrike">
                          <a:effectLst/>
                        </a:rPr>
                        <a:t>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비밀번호 없이 로그인 시도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사용자 </a:t>
                      </a:r>
                      <a:r>
                        <a:rPr lang="en-US" altLang="ko-KR" sz="1400" u="none" strike="noStrike" dirty="0">
                          <a:effectLst/>
                        </a:rPr>
                        <a:t>ID: user1, </a:t>
                      </a:r>
                      <a:r>
                        <a:rPr lang="ko-KR" altLang="en-US" sz="1400" u="none" strike="noStrike" dirty="0">
                          <a:effectLst/>
                        </a:rPr>
                        <a:t>비밀번호</a:t>
                      </a:r>
                      <a:r>
                        <a:rPr lang="en-US" altLang="ko-KR" sz="1400" u="none" strike="noStrike" dirty="0">
                          <a:effectLst/>
                        </a:rPr>
                        <a:t>: (</a:t>
                      </a:r>
                      <a:r>
                        <a:rPr lang="ko-KR" altLang="en-US" sz="1400" u="none" strike="noStrike" dirty="0">
                          <a:effectLst/>
                        </a:rPr>
                        <a:t>공백</a:t>
                      </a:r>
                      <a:r>
                        <a:rPr lang="en-US" altLang="ko-KR" sz="1400" u="none" strike="noStrike" dirty="0">
                          <a:effectLst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비밀번호 입력 요청 메시지 표시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33635658"/>
                  </a:ext>
                </a:extLst>
              </a:tr>
              <a:tr h="76727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400" u="none" strike="noStrike"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</a:rPr>
                        <a:t>사용자 </a:t>
                      </a:r>
                      <a:r>
                        <a:rPr lang="en-US" altLang="ko-KR" sz="1400" u="none" strike="noStrike">
                          <a:effectLst/>
                        </a:rPr>
                        <a:t>ID </a:t>
                      </a:r>
                      <a:r>
                        <a:rPr lang="ko-KR" altLang="en-US" sz="1400" u="none" strike="noStrike">
                          <a:effectLst/>
                        </a:rPr>
                        <a:t>없이 로그인 시도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사용자 </a:t>
                      </a:r>
                      <a:r>
                        <a:rPr lang="en-US" altLang="ko-KR" sz="1400" u="none" strike="noStrike" dirty="0">
                          <a:effectLst/>
                        </a:rPr>
                        <a:t>ID: (</a:t>
                      </a:r>
                      <a:r>
                        <a:rPr lang="ko-KR" altLang="en-US" sz="1400" u="none" strike="noStrike" dirty="0">
                          <a:effectLst/>
                        </a:rPr>
                        <a:t>공백</a:t>
                      </a:r>
                      <a:r>
                        <a:rPr lang="en-US" altLang="ko-KR" sz="1400" u="none" strike="noStrike" dirty="0">
                          <a:effectLst/>
                        </a:rPr>
                        <a:t>), </a:t>
                      </a:r>
                      <a:r>
                        <a:rPr lang="ko-KR" altLang="en-US" sz="1400" u="none" strike="noStrike" dirty="0">
                          <a:effectLst/>
                        </a:rPr>
                        <a:t>비밀번호</a:t>
                      </a:r>
                      <a:r>
                        <a:rPr lang="en-US" altLang="ko-KR" sz="1400" u="none" strike="noStrike" dirty="0">
                          <a:effectLst/>
                        </a:rPr>
                        <a:t>: password1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사용자 </a:t>
                      </a:r>
                      <a:r>
                        <a:rPr lang="en-US" altLang="ko-KR" sz="1400" u="none" strike="noStrike" dirty="0">
                          <a:effectLst/>
                        </a:rPr>
                        <a:t>ID </a:t>
                      </a:r>
                      <a:r>
                        <a:rPr lang="ko-KR" altLang="en-US" sz="1400" u="none" strike="noStrike" dirty="0">
                          <a:effectLst/>
                        </a:rPr>
                        <a:t>입력 요청 메시지 표시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r>
                        <a:rPr lang="en-US" altLang="ko-KR" sz="1400" u="none" strike="noStrike" dirty="0">
                          <a:effectLst/>
                        </a:rPr>
                        <a:t>T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13411970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18E76646-B8D7-07EE-5956-5ED2EC6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62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2698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UML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8CA7BAF-2555-940B-9F1B-8079DCD3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35" y="6444992"/>
            <a:ext cx="307700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1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47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Part 3</a:t>
            </a:r>
            <a:endParaRPr lang="ko-KR" altLang="en-US" sz="16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UML</a:t>
            </a:r>
            <a:endParaRPr lang="ko-KR" altLang="en-US" sz="2800" b="1" spc="-300" dirty="0">
              <a:solidFill>
                <a:schemeClr val="accent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E76646-B8D7-07EE-5956-5ED2EC6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C7C9086A-8B2E-8967-64ED-B31BD9D01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872510"/>
            <a:ext cx="11559942" cy="541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3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307007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스토리보드</a:t>
              </a:r>
              <a:endParaRPr lang="en-US" altLang="ko-KR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8CA7BAF-2555-940B-9F1B-8079DCD3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35" y="6444992"/>
            <a:ext cx="307700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36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630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 </a:t>
            </a:r>
            <a:r>
              <a:rPr lang="en-US" altLang="ko-KR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 </a:t>
            </a:r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메인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E76646-B8D7-07EE-5956-5ED2EC6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D46A77-ECA3-612A-186C-53C14314C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9" y="1024568"/>
            <a:ext cx="11834262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3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E76646-B8D7-07EE-5956-5ED2EC6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BF4CE72-1CC1-63F3-0FBB-935EB8498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44" y="1024567"/>
            <a:ext cx="11195712" cy="533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4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E76646-B8D7-07EE-5956-5ED2EC647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344E29-D086-253F-50F7-1131EA333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3" y="1024568"/>
            <a:ext cx="11029117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0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6CC2-B8FA-41E4-D03A-89DC859D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59B37B3-BDA9-D68D-C8DE-1D25B2C4B61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527891-217F-9690-1C4E-26E2649DB1DF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EA35B-41C4-A462-3686-8A65CAD85DD5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492DE0D-88F0-014F-8BD0-3AA1110E3C13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C48F0B3-88B4-BE6B-F894-336A9C530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21618F-0B98-1AB2-F594-4DDC3E99F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3" y="1024567"/>
            <a:ext cx="11234500" cy="507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7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D891-CDFA-E80D-93F7-C785B13A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803D48F-C03B-F1C9-F90B-0EE2B7FDDD2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86CB2B-EE8D-A793-FE88-37A0403D9FA7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D68B0-4505-EE7D-885D-3AAF7A7120F5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CDCA1B8-1A90-1D29-A016-C146478CD4AF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F9A76BC-DF00-2F4B-037E-3D530F85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91F659-2FEA-734A-52AB-A117FA28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76" y="983441"/>
            <a:ext cx="10118848" cy="53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37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56D7-A6F4-5F44-DA77-2908A4F2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9054415-C087-3B75-9C08-D192D433FB8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2F1FE90-EEEE-6E1D-FB5C-1694959D6685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6B0CB-9872-34AA-4543-D17ED541F0C7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5AD18A1-7EAE-76FF-ECD2-16629CDF378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C8469740-FD4C-92A7-840F-02F122A82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F4D90A-0D1B-534A-68DF-4E0CFDDCF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3" y="908229"/>
            <a:ext cx="11328322" cy="507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77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D456B-046F-DCE7-E49C-D3101302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4DAE79-B929-C1F4-3894-E9802A29EDE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041307-0BBD-5458-4FAC-F38586DB2D73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03B8E-114D-0A1C-46E3-0FBEC65DA9A5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121A137-4CB8-5FB3-101C-8E048435350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20A72D70-9346-5158-6782-256DF5592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A7511-DB29-3470-DF64-15A573334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3" y="1246783"/>
            <a:ext cx="10967716" cy="48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84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0055-742B-36BC-B0C4-409F61C6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1AC5E0B-55EB-6508-4269-E600CAFB6EA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69800D-A985-353D-1A25-A72FFEAA5551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BCD6D-070E-9FD4-4DBC-8357C0CF57AF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99B7F1-C82B-436A-59AF-47D7BE45C72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61E8327-A20A-22FB-77BF-CA2A6A0B2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0F11E6-68CC-F05B-0866-55DB11540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55" y="1195480"/>
            <a:ext cx="11601690" cy="477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86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9F96-20F6-770F-CDEC-C6F92060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2229DE5-2D1D-88DA-DF6F-68730E11B2D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6FCD02-6D6F-D841-932A-1B299E3A16AC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92433-CA6B-AC9B-AE6A-7DF41669296F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F303C29-645E-8627-84D3-CF72E7DE640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3068964-7A2C-BFAC-2D9F-E5882B175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07951A-8274-174E-7DF0-A866D700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3" y="908229"/>
            <a:ext cx="11298944" cy="53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63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01ED-34D6-12BC-246C-A092E902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629B76-21A5-5928-38C7-E79D18BB085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A7ED6E9-306A-50B1-569E-260C39590751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34E48-F9C5-6CE7-8F83-D2B6EC79ED6A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5AAD9D6-8F4F-8A6D-24AF-7C6797232803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F2A8492-300B-7E49-6D4B-5C4123B93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41B281-9B9E-1369-323A-E82CADD5D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91" y="1024568"/>
            <a:ext cx="11194022" cy="533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3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5F837-FDBD-3476-7808-EE63E3BF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717AD2-6B02-9DEF-11D5-D61DAED79DB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DC0739-557C-3348-8A9B-1D6B623BDA82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EBA7E-F7F1-767D-63B6-FB91A12D8C5E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EE71C4A-7910-8A2A-0AB3-8E556556682E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58AB29B-3DF4-CA0C-101C-40927A4CC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A1915F-BE8F-EF2F-610E-9C6C0D21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44" y="944543"/>
            <a:ext cx="10339912" cy="545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80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A312-D635-13C2-46FD-3000301A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89133B9-EBEF-C146-FFC3-E6D73E95B93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63725-6214-12B1-181F-EBE65143CB6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2C747-818A-61C2-F862-0BC81C217492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EDF617-C392-5E04-5B6C-97C75633522F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54ECEE6-6F39-61D8-DA1D-8FDAE7FDC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E3BC669-9531-A0A8-D042-A73A77E7A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930" y="975774"/>
            <a:ext cx="8822611" cy="541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05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710D-F02D-27C2-73DD-E8D1474C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78A7A92-0201-3543-9FA3-E1CC9550413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71EAE7-B878-3F29-32C9-18879BBCFCF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32DA5-8C88-0E49-9DA0-832647D077A7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ED41004-4A5B-35EC-743E-72A08E56B475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05B8BD3-7E3F-E791-E0FC-CF8F4D41C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D3BF61-444B-06AF-7C64-DD068E20F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48" y="1130947"/>
            <a:ext cx="10253336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97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CBBD1-E813-EF10-808F-D7F045AA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7C2F77F-E6A4-C947-E7B4-1919002C480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4548F5-CD98-3E66-390F-4312E036B271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8975D-F65C-44C9-74A8-35A83274FF05}"/>
              </a:ext>
            </a:extLst>
          </p:cNvPr>
          <p:cNvSpPr txBox="1"/>
          <p:nvPr/>
        </p:nvSpPr>
        <p:spPr>
          <a:xfrm>
            <a:off x="1163052" y="272716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스토리보드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5F3DB1-F56E-5CD4-D85F-C7ABCA7E845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3F69BB94-7B7F-9598-1D11-BCA3166F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ACB4F7-08AF-5B33-E9E5-600C3DE44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58" y="1012105"/>
            <a:ext cx="10663683" cy="52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43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AF5B4-717E-4E84-7E92-C7C1B167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8B9B956-B2C3-DA94-7FA5-71EE7188C2A3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7328967-C806-FFA7-F750-FEF154A77296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52B0A4-0E9D-45C6-4124-D6874A89D614}"/>
                </a:ext>
              </a:extLst>
            </p:cNvPr>
            <p:cNvSpPr txBox="1"/>
            <p:nvPr/>
          </p:nvSpPr>
          <p:spPr>
            <a:xfrm>
              <a:off x="6817895" y="3350782"/>
              <a:ext cx="110318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ERD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704391DE-CD14-7ACD-53A9-76E74871A026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311921-3ABD-E403-4095-463E57C927DB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BD072A0-F5F1-B7BD-9F72-4D3684A0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35" y="6444992"/>
            <a:ext cx="307700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58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5B8F-13D8-C840-2A62-2FBE4D7E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C1E6EA0-ABC2-BC9B-D430-92F8C1470CC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8D1602-ED84-895A-E6EF-7882A00CE288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D63C5-4B25-8B9A-452D-2D601D71DC50}"/>
              </a:ext>
            </a:extLst>
          </p:cNvPr>
          <p:cNvSpPr txBox="1"/>
          <p:nvPr/>
        </p:nvSpPr>
        <p:spPr>
          <a:xfrm>
            <a:off x="1163052" y="272716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ERD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B0566B3-86CD-F3FF-B1FC-5A635017D32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039DD835-D169-80F6-0077-494318AC5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723" y="6509053"/>
            <a:ext cx="3667637" cy="228632"/>
          </a:xfrm>
          <a:prstGeom prst="rect">
            <a:avLst/>
          </a:prstGeom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9822658F-2A05-D3F5-3EA4-FAD1097F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1118981"/>
            <a:ext cx="11490960" cy="527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5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2430856" y="2743911"/>
            <a:ext cx="8491143" cy="930147"/>
            <a:chOff x="6817895" y="2791321"/>
            <a:chExt cx="6867861" cy="163121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7089078" y="2791321"/>
              <a:ext cx="6596678" cy="1631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0" b="1" dirty="0">
                  <a:solidFill>
                    <a:schemeClr val="bg1"/>
                  </a:solidFill>
                  <a:latin typeface="+mj-ea"/>
                  <a:ea typeface="+mj-ea"/>
                </a:rPr>
                <a:t>감사합니다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18473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8CA7BAF-2555-940B-9F1B-8079DCD39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535" y="6444992"/>
            <a:ext cx="307700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34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354</Words>
  <Application>Microsoft Office PowerPoint</Application>
  <PresentationFormat>와이드스크린</PresentationFormat>
  <Paragraphs>145</Paragraphs>
  <Slides>29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Pretendard</vt:lpstr>
      <vt:lpstr>Pretendard Black</vt:lpstr>
      <vt:lpstr>Sora</vt:lpstr>
      <vt:lpstr>Sora ExtraBold</vt:lpstr>
      <vt:lpstr>맑은 고딕</vt:lpstr>
      <vt:lpstr>한컴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경민 박</cp:lastModifiedBy>
  <cp:revision>80</cp:revision>
  <dcterms:created xsi:type="dcterms:W3CDTF">2022-08-03T01:14:38Z</dcterms:created>
  <dcterms:modified xsi:type="dcterms:W3CDTF">2024-10-10T03:04:27Z</dcterms:modified>
</cp:coreProperties>
</file>